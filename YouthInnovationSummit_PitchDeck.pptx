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presenting on behalf of the Dubai Airports Youth Council. Our flagship 2026 programme — Future Travel Experience — is about improving the journey for young and first-time travellers, and launching our first Youth Innovation Summit. Today I'll cover the opportunity, what the data tells us, our three pilots, the summit, and the three decisions we need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DXB serves more than 90 million passengers a year, and the share of young and first-time travellers keeps growing. These flyers are digital-first and expect speed, clarity and sustainability. We're starting where the volume and the opportunity are highest — Terminal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a passenger pulse over the first half of 2026. Overall satisfaction is 4.1 out of 5 and rising. Wayfinding is clearly our weakest point at around 3.4 — that's where pilot one is aimed. Digital Services is our strongest at 4.6, confirming the digital-first preference. And our overall NPS is a healthy +38.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scoped three low-cost, high-visibility pilots. Pilot one — smart wayfinding — tackles our weakest score directly. Pilot two is a youth lounge corner, a rest-and-charge space. Pilot three is a sustainability nudge programme. Together they come to AED 100,000, and each can scale across terminals if it proves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Youth Innovation Summit launches in November 2026 in the Terminal 3 innovation space, with a budget of AED 150,000. It's open to young employees and council members, ideally in cross-functional teams. They submit a short idea, a panel shortlists, teams present live, and the standout ideas become pilots the following year. It's both an experience programme and a talent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three asks. First, approve the AED 250,000 budget — 150 for the summit, 100 for the pilots. Second, endorse a November 2026 date; we're proposing the late-November window to avoid the Terminal 3 systems upgrade. Third, assign an executive sponsor to champion the initiative and help us coordinate across departments. With your endorsement today, we can confirm the date this week and open submissions after the summer.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11F4B"/>
        </a:solidFill>
      </p:bgPr>
    </p:bg>
    <p:spTree>
      <p:nvGrpSpPr>
        <p:cNvPr id="1" name=""/>
        <p:cNvGrpSpPr/>
        <p:nvPr/>
      </p:nvGrpSpPr>
      <p:grpSpPr>
        <a:xfrm>
          <a:off x="0" y="0"/>
          <a:ext cx="0" cy="0"/>
          <a:chOff x="0" y="0"/>
          <a:chExt cx="0" cy="0"/>
        </a:xfrm>
      </p:grpSpPr>
      <p:sp>
        <p:nvSpPr>
          <p:cNvPr id="2" name="Shape 0"/>
          <p:cNvSpPr/>
          <p:nvPr/>
        </p:nvSpPr>
        <p:spPr>
          <a:xfrm>
            <a:off x="9418320" y="-1280160"/>
            <a:ext cx="3840480" cy="3840480"/>
          </a:xfrm>
          <a:prstGeom prst="ellipse">
            <a:avLst/>
          </a:prstGeom>
          <a:solidFill>
            <a:srgbClr val="FFFFFF">
              <a:alpha val="12000"/>
            </a:srgbClr>
          </a:solidFill>
          <a:ln/>
        </p:spPr>
      </p:sp>
      <p:sp>
        <p:nvSpPr>
          <p:cNvPr id="3" name="Shape 1"/>
          <p:cNvSpPr/>
          <p:nvPr/>
        </p:nvSpPr>
        <p:spPr>
          <a:xfrm>
            <a:off x="10607040" y="4206240"/>
            <a:ext cx="3108960" cy="3108960"/>
          </a:xfrm>
          <a:prstGeom prst="ellipse">
            <a:avLst/>
          </a:prstGeom>
          <a:solidFill>
            <a:srgbClr val="FFFFFF">
              <a:alpha val="10000"/>
            </a:srgbClr>
          </a:solidFill>
          <a:ln/>
        </p:spPr>
      </p:sp>
      <p:sp>
        <p:nvSpPr>
          <p:cNvPr id="4" name="Text 2"/>
          <p:cNvSpPr/>
          <p:nvPr/>
        </p:nvSpPr>
        <p:spPr>
          <a:xfrm>
            <a:off x="822960" y="1691640"/>
            <a:ext cx="10058400" cy="365760"/>
          </a:xfrm>
          <a:prstGeom prst="rect">
            <a:avLst/>
          </a:prstGeom>
          <a:noFill/>
          <a:ln/>
        </p:spPr>
        <p:txBody>
          <a:bodyPr wrap="square" rtlCol="0" anchor="ctr"/>
          <a:lstStyle/>
          <a:p>
            <a:pPr indent="0" marL="0">
              <a:buNone/>
            </a:pPr>
            <a:r>
              <a:rPr lang="en-US" sz="1500" b="1" spc="300" kern="0" dirty="0">
                <a:solidFill>
                  <a:srgbClr val="F4E3EA"/>
                </a:solidFill>
                <a:latin typeface="Segoe UI" pitchFamily="34" charset="0"/>
                <a:ea typeface="Segoe UI" pitchFamily="34" charset="-122"/>
                <a:cs typeface="Segoe UI" pitchFamily="34" charset="-120"/>
              </a:rPr>
              <a:t>DUBAI AIRPORTS YOUTH COUNCIL</a:t>
            </a:r>
            <a:endParaRPr lang="en-US" sz="1500" dirty="0"/>
          </a:p>
        </p:txBody>
      </p:sp>
      <p:sp>
        <p:nvSpPr>
          <p:cNvPr id="5" name="Text 3"/>
          <p:cNvSpPr/>
          <p:nvPr/>
        </p:nvSpPr>
        <p:spPr>
          <a:xfrm>
            <a:off x="777240" y="2148840"/>
            <a:ext cx="10424160" cy="1188720"/>
          </a:xfrm>
          <a:prstGeom prst="rect">
            <a:avLst/>
          </a:prstGeom>
          <a:noFill/>
          <a:ln/>
        </p:spPr>
        <p:txBody>
          <a:bodyPr wrap="square" rtlCol="0" anchor="ctr"/>
          <a:lstStyle/>
          <a:p>
            <a:pPr indent="0" marL="0">
              <a:buNone/>
            </a:pPr>
            <a:r>
              <a:rPr lang="en-US" sz="5400" b="1" dirty="0">
                <a:solidFill>
                  <a:srgbClr val="FFFFFF"/>
                </a:solidFill>
                <a:latin typeface="Segoe UI" pitchFamily="34" charset="0"/>
                <a:ea typeface="Segoe UI" pitchFamily="34" charset="-122"/>
                <a:cs typeface="Segoe UI" pitchFamily="34" charset="-120"/>
              </a:rPr>
              <a:t>Future Travel Experience</a:t>
            </a:r>
            <a:endParaRPr lang="en-US" sz="5400" dirty="0"/>
          </a:p>
        </p:txBody>
      </p:sp>
      <p:sp>
        <p:nvSpPr>
          <p:cNvPr id="6" name="Text 4"/>
          <p:cNvSpPr/>
          <p:nvPr/>
        </p:nvSpPr>
        <p:spPr>
          <a:xfrm>
            <a:off x="822960" y="3337560"/>
            <a:ext cx="10058400" cy="640080"/>
          </a:xfrm>
          <a:prstGeom prst="rect">
            <a:avLst/>
          </a:prstGeom>
          <a:noFill/>
          <a:ln/>
        </p:spPr>
        <p:txBody>
          <a:bodyPr wrap="square" rtlCol="0" anchor="ctr"/>
          <a:lstStyle/>
          <a:p>
            <a:pPr indent="0" marL="0">
              <a:buNone/>
            </a:pPr>
            <a:r>
              <a:rPr lang="en-US" sz="2600" dirty="0">
                <a:solidFill>
                  <a:srgbClr val="F4E3EA"/>
                </a:solidFill>
                <a:latin typeface="Segoe UI" pitchFamily="34" charset="0"/>
                <a:ea typeface="Segoe UI" pitchFamily="34" charset="-122"/>
                <a:cs typeface="Segoe UI" pitchFamily="34" charset="-120"/>
              </a:rPr>
              <a:t>Youth Innovation Summit 2026</a:t>
            </a:r>
            <a:endParaRPr lang="en-US" sz="2600" dirty="0"/>
          </a:p>
        </p:txBody>
      </p:sp>
      <p:sp>
        <p:nvSpPr>
          <p:cNvPr id="7" name="Shape 5"/>
          <p:cNvSpPr/>
          <p:nvPr/>
        </p:nvSpPr>
        <p:spPr>
          <a:xfrm>
            <a:off x="841248" y="4160520"/>
            <a:ext cx="822960" cy="54864"/>
          </a:xfrm>
          <a:prstGeom prst="rect">
            <a:avLst/>
          </a:prstGeom>
          <a:solidFill>
            <a:srgbClr val="FFFFFF"/>
          </a:solidFill>
          <a:ln/>
        </p:spPr>
      </p:sp>
      <p:sp>
        <p:nvSpPr>
          <p:cNvPr id="8" name="Text 6"/>
          <p:cNvSpPr/>
          <p:nvPr/>
        </p:nvSpPr>
        <p:spPr>
          <a:xfrm>
            <a:off x="822960" y="4343400"/>
            <a:ext cx="10058400" cy="4572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Quarterly Leadership Review  ·  Q2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indent="0" marL="0">
              <a:buNone/>
            </a:pPr>
            <a:r>
              <a:rPr lang="en-US" sz="1300" b="1" spc="200" kern="0" dirty="0">
                <a:solidFill>
                  <a:srgbClr val="B11F4B"/>
                </a:solidFill>
                <a:latin typeface="Segoe UI" pitchFamily="34" charset="0"/>
                <a:ea typeface="Segoe UI" pitchFamily="34" charset="-122"/>
                <a:cs typeface="Segoe UI" pitchFamily="34" charset="-120"/>
              </a:rPr>
              <a:t>THE OPPORTUNITY</a:t>
            </a:r>
            <a:endParaRPr lang="en-US" sz="1300" dirty="0"/>
          </a:p>
        </p:txBody>
      </p:sp>
      <p:sp>
        <p:nvSpPr>
          <p:cNvPr id="3" name="Text 1"/>
          <p:cNvSpPr/>
          <p:nvPr/>
        </p:nvSpPr>
        <p:spPr>
          <a:xfrm>
            <a:off x="640080" y="822960"/>
            <a:ext cx="10881360" cy="822960"/>
          </a:xfrm>
          <a:prstGeom prst="rect">
            <a:avLst/>
          </a:prstGeom>
          <a:noFill/>
          <a:ln/>
        </p:spPr>
        <p:txBody>
          <a:bodyPr wrap="square" rtlCol="0" anchor="ctr"/>
          <a:lstStyle/>
          <a:p>
            <a:pPr indent="0" marL="0">
              <a:buNone/>
            </a:pPr>
            <a:r>
              <a:rPr lang="en-US" sz="3200" b="1" dirty="0">
                <a:solidFill>
                  <a:srgbClr val="242424"/>
                </a:solidFill>
                <a:latin typeface="Segoe UI" pitchFamily="34" charset="0"/>
                <a:ea typeface="Segoe UI" pitchFamily="34" charset="-122"/>
                <a:cs typeface="Segoe UI" pitchFamily="34" charset="-120"/>
              </a:rPr>
              <a:t>A fast-growing generation of travellers</a:t>
            </a:r>
            <a:endParaRPr lang="en-US" sz="3200" dirty="0"/>
          </a:p>
        </p:txBody>
      </p:sp>
      <p:sp>
        <p:nvSpPr>
          <p:cNvPr id="4" name="Text 2"/>
          <p:cNvSpPr/>
          <p:nvPr/>
        </p:nvSpPr>
        <p:spPr>
          <a:xfrm>
            <a:off x="640080" y="1691640"/>
            <a:ext cx="10881360" cy="1005840"/>
          </a:xfrm>
          <a:prstGeom prst="rect">
            <a:avLst/>
          </a:prstGeom>
          <a:noFill/>
          <a:ln/>
        </p:spPr>
        <p:txBody>
          <a:bodyPr wrap="square" rtlCol="0" anchor="ctr"/>
          <a:lstStyle/>
          <a:p>
            <a:pPr indent="0" marL="0">
              <a:lnSpc>
                <a:spcPct val="115000"/>
              </a:lnSpc>
              <a:buNone/>
            </a:pPr>
            <a:r>
              <a:rPr lang="en-US" sz="1600" dirty="0">
                <a:solidFill>
                  <a:srgbClr val="5C5C5C"/>
                </a:solidFill>
                <a:latin typeface="Calibri" pitchFamily="34" charset="0"/>
                <a:ea typeface="Calibri" pitchFamily="34" charset="-122"/>
                <a:cs typeface="Calibri" pitchFamily="34" charset="-120"/>
              </a:rPr>
              <a:t>Dubai International is one of the world's busiest airports — and a growing share of its passengers are young and first-time travellers who navigate, decide and share differently. Meeting their expectations is the next frontier of the DXB experience.</a:t>
            </a:r>
            <a:endParaRPr lang="en-US" sz="1600" dirty="0"/>
          </a:p>
        </p:txBody>
      </p:sp>
      <p:sp>
        <p:nvSpPr>
          <p:cNvPr id="5" name="Shape 3"/>
          <p:cNvSpPr/>
          <p:nvPr/>
        </p:nvSpPr>
        <p:spPr>
          <a:xfrm>
            <a:off x="640080" y="3108960"/>
            <a:ext cx="3429000" cy="2651760"/>
          </a:xfrm>
          <a:prstGeom prst="roundRect">
            <a:avLst>
              <a:gd name="adj" fmla="val 4138"/>
            </a:avLst>
          </a:prstGeom>
          <a:solidFill>
            <a:srgbClr val="F7F7F8"/>
          </a:solidFill>
          <a:ln w="12700">
            <a:solidFill>
              <a:srgbClr val="F4E3EA"/>
            </a:solidFill>
            <a:prstDash val="solid"/>
          </a:ln>
        </p:spPr>
      </p:sp>
      <p:sp>
        <p:nvSpPr>
          <p:cNvPr id="6" name="Text 4"/>
          <p:cNvSpPr/>
          <p:nvPr/>
        </p:nvSpPr>
        <p:spPr>
          <a:xfrm>
            <a:off x="731520" y="3429000"/>
            <a:ext cx="3246120" cy="1005840"/>
          </a:xfrm>
          <a:prstGeom prst="rect">
            <a:avLst/>
          </a:prstGeom>
          <a:noFill/>
          <a:ln/>
        </p:spPr>
        <p:txBody>
          <a:bodyPr wrap="square" rtlCol="0" anchor="ctr"/>
          <a:lstStyle/>
          <a:p>
            <a:pPr algn="ctr" indent="0" marL="0">
              <a:buNone/>
            </a:pPr>
            <a:r>
              <a:rPr lang="en-US" sz="4000" b="1" dirty="0">
                <a:solidFill>
                  <a:srgbClr val="B11F4B"/>
                </a:solidFill>
                <a:latin typeface="Segoe UI" pitchFamily="34" charset="0"/>
                <a:ea typeface="Segoe UI" pitchFamily="34" charset="-122"/>
                <a:cs typeface="Segoe UI" pitchFamily="34" charset="-120"/>
              </a:rPr>
              <a:t>90M+</a:t>
            </a:r>
            <a:endParaRPr lang="en-US" sz="4000" dirty="0"/>
          </a:p>
        </p:txBody>
      </p:sp>
      <p:sp>
        <p:nvSpPr>
          <p:cNvPr id="7" name="Text 5"/>
          <p:cNvSpPr/>
          <p:nvPr/>
        </p:nvSpPr>
        <p:spPr>
          <a:xfrm>
            <a:off x="960120" y="4526280"/>
            <a:ext cx="2788920" cy="1005840"/>
          </a:xfrm>
          <a:prstGeom prst="rect">
            <a:avLst/>
          </a:prstGeom>
          <a:noFill/>
          <a:ln/>
        </p:spPr>
        <p:txBody>
          <a:bodyPr wrap="square" rtlCol="0" anchor="t"/>
          <a:lstStyle/>
          <a:p>
            <a:pPr algn="ctr" indent="0" marL="0">
              <a:buNone/>
            </a:pPr>
            <a:r>
              <a:rPr lang="en-US" sz="1600" dirty="0">
                <a:solidFill>
                  <a:srgbClr val="242424"/>
                </a:solidFill>
                <a:latin typeface="Calibri" pitchFamily="34" charset="0"/>
                <a:ea typeface="Calibri" pitchFamily="34" charset="-122"/>
                <a:cs typeface="Calibri" pitchFamily="34" charset="-120"/>
              </a:rPr>
              <a:t>passengers served at DXB each year</a:t>
            </a:r>
            <a:endParaRPr lang="en-US" sz="1600" dirty="0"/>
          </a:p>
        </p:txBody>
      </p:sp>
      <p:sp>
        <p:nvSpPr>
          <p:cNvPr id="8" name="Shape 6"/>
          <p:cNvSpPr/>
          <p:nvPr/>
        </p:nvSpPr>
        <p:spPr>
          <a:xfrm>
            <a:off x="4361688" y="3108960"/>
            <a:ext cx="3429000" cy="2651760"/>
          </a:xfrm>
          <a:prstGeom prst="roundRect">
            <a:avLst>
              <a:gd name="adj" fmla="val 4138"/>
            </a:avLst>
          </a:prstGeom>
          <a:solidFill>
            <a:srgbClr val="F7F7F8"/>
          </a:solidFill>
          <a:ln w="12700">
            <a:solidFill>
              <a:srgbClr val="F4E3EA"/>
            </a:solidFill>
            <a:prstDash val="solid"/>
          </a:ln>
        </p:spPr>
      </p:sp>
      <p:sp>
        <p:nvSpPr>
          <p:cNvPr id="9" name="Text 7"/>
          <p:cNvSpPr/>
          <p:nvPr/>
        </p:nvSpPr>
        <p:spPr>
          <a:xfrm>
            <a:off x="4453128" y="3429000"/>
            <a:ext cx="3246120" cy="1005840"/>
          </a:xfrm>
          <a:prstGeom prst="rect">
            <a:avLst/>
          </a:prstGeom>
          <a:noFill/>
          <a:ln/>
        </p:spPr>
        <p:txBody>
          <a:bodyPr wrap="square" rtlCol="0" anchor="ctr"/>
          <a:lstStyle/>
          <a:p>
            <a:pPr algn="ctr" indent="0" marL="0">
              <a:buNone/>
            </a:pPr>
            <a:r>
              <a:rPr lang="en-US" sz="4000" b="1" dirty="0">
                <a:solidFill>
                  <a:srgbClr val="B11F4B"/>
                </a:solidFill>
                <a:latin typeface="Segoe UI" pitchFamily="34" charset="0"/>
                <a:ea typeface="Segoe UI" pitchFamily="34" charset="-122"/>
                <a:cs typeface="Segoe UI" pitchFamily="34" charset="-120"/>
              </a:rPr>
              <a:t>Growing</a:t>
            </a:r>
            <a:endParaRPr lang="en-US" sz="4000" dirty="0"/>
          </a:p>
        </p:txBody>
      </p:sp>
      <p:sp>
        <p:nvSpPr>
          <p:cNvPr id="10" name="Text 8"/>
          <p:cNvSpPr/>
          <p:nvPr/>
        </p:nvSpPr>
        <p:spPr>
          <a:xfrm>
            <a:off x="4681728" y="4526280"/>
            <a:ext cx="2788920" cy="1005840"/>
          </a:xfrm>
          <a:prstGeom prst="rect">
            <a:avLst/>
          </a:prstGeom>
          <a:noFill/>
          <a:ln/>
        </p:spPr>
        <p:txBody>
          <a:bodyPr wrap="square" rtlCol="0" anchor="t"/>
          <a:lstStyle/>
          <a:p>
            <a:pPr algn="ctr" indent="0" marL="0">
              <a:buNone/>
            </a:pPr>
            <a:r>
              <a:rPr lang="en-US" sz="1600" dirty="0">
                <a:solidFill>
                  <a:srgbClr val="242424"/>
                </a:solidFill>
                <a:latin typeface="Calibri" pitchFamily="34" charset="0"/>
                <a:ea typeface="Calibri" pitchFamily="34" charset="-122"/>
                <a:cs typeface="Calibri" pitchFamily="34" charset="-120"/>
              </a:rPr>
              <a:t>share of young &amp; first-time flyers</a:t>
            </a:r>
            <a:endParaRPr lang="en-US" sz="1600" dirty="0"/>
          </a:p>
        </p:txBody>
      </p:sp>
      <p:sp>
        <p:nvSpPr>
          <p:cNvPr id="11" name="Shape 9"/>
          <p:cNvSpPr/>
          <p:nvPr/>
        </p:nvSpPr>
        <p:spPr>
          <a:xfrm>
            <a:off x="8083296" y="3108960"/>
            <a:ext cx="3429000" cy="2651760"/>
          </a:xfrm>
          <a:prstGeom prst="roundRect">
            <a:avLst>
              <a:gd name="adj" fmla="val 4138"/>
            </a:avLst>
          </a:prstGeom>
          <a:solidFill>
            <a:srgbClr val="F7F7F8"/>
          </a:solidFill>
          <a:ln w="12700">
            <a:solidFill>
              <a:srgbClr val="F4E3EA"/>
            </a:solidFill>
            <a:prstDash val="solid"/>
          </a:ln>
        </p:spPr>
      </p:sp>
      <p:sp>
        <p:nvSpPr>
          <p:cNvPr id="12" name="Text 10"/>
          <p:cNvSpPr/>
          <p:nvPr/>
        </p:nvSpPr>
        <p:spPr>
          <a:xfrm>
            <a:off x="8174736" y="3429000"/>
            <a:ext cx="3246120" cy="1005840"/>
          </a:xfrm>
          <a:prstGeom prst="rect">
            <a:avLst/>
          </a:prstGeom>
          <a:noFill/>
          <a:ln/>
        </p:spPr>
        <p:txBody>
          <a:bodyPr wrap="square" rtlCol="0" anchor="ctr"/>
          <a:lstStyle/>
          <a:p>
            <a:pPr algn="ctr" indent="0" marL="0">
              <a:buNone/>
            </a:pPr>
            <a:r>
              <a:rPr lang="en-US" sz="4000" b="1" dirty="0">
                <a:solidFill>
                  <a:srgbClr val="B11F4B"/>
                </a:solidFill>
                <a:latin typeface="Segoe UI" pitchFamily="34" charset="0"/>
                <a:ea typeface="Segoe UI" pitchFamily="34" charset="-122"/>
                <a:cs typeface="Segoe UI" pitchFamily="34" charset="-120"/>
              </a:rPr>
              <a:t>Terminal 3</a:t>
            </a:r>
            <a:endParaRPr lang="en-US" sz="4000" dirty="0"/>
          </a:p>
        </p:txBody>
      </p:sp>
      <p:sp>
        <p:nvSpPr>
          <p:cNvPr id="13" name="Text 11"/>
          <p:cNvSpPr/>
          <p:nvPr/>
        </p:nvSpPr>
        <p:spPr>
          <a:xfrm>
            <a:off x="8403336" y="4526280"/>
            <a:ext cx="2788920" cy="1005840"/>
          </a:xfrm>
          <a:prstGeom prst="rect">
            <a:avLst/>
          </a:prstGeom>
          <a:noFill/>
          <a:ln/>
        </p:spPr>
        <p:txBody>
          <a:bodyPr wrap="square" rtlCol="0" anchor="t"/>
          <a:lstStyle/>
          <a:p>
            <a:pPr algn="ctr" indent="0" marL="0">
              <a:buNone/>
            </a:pPr>
            <a:r>
              <a:rPr lang="en-US" sz="1600" dirty="0">
                <a:solidFill>
                  <a:srgbClr val="242424"/>
                </a:solidFill>
                <a:latin typeface="Calibri" pitchFamily="34" charset="0"/>
                <a:ea typeface="Calibri" pitchFamily="34" charset="-122"/>
                <a:cs typeface="Calibri" pitchFamily="34" charset="-120"/>
              </a:rPr>
              <a:t>our focus for the first improvements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indent="0" marL="0">
              <a:buNone/>
            </a:pPr>
            <a:r>
              <a:rPr lang="en-US" sz="1300" b="1" spc="200" kern="0" dirty="0">
                <a:solidFill>
                  <a:srgbClr val="B11F4B"/>
                </a:solidFill>
                <a:latin typeface="Segoe UI" pitchFamily="34" charset="0"/>
                <a:ea typeface="Segoe UI" pitchFamily="34" charset="-122"/>
                <a:cs typeface="Segoe UI" pitchFamily="34" charset="-120"/>
              </a:rPr>
              <a:t>WHAT WE HEARD</a:t>
            </a:r>
            <a:endParaRPr lang="en-US" sz="1300" dirty="0"/>
          </a:p>
        </p:txBody>
      </p:sp>
      <p:sp>
        <p:nvSpPr>
          <p:cNvPr id="3" name="Text 1"/>
          <p:cNvSpPr/>
          <p:nvPr/>
        </p:nvSpPr>
        <p:spPr>
          <a:xfrm>
            <a:off x="640080" y="822960"/>
            <a:ext cx="10881360" cy="822960"/>
          </a:xfrm>
          <a:prstGeom prst="rect">
            <a:avLst/>
          </a:prstGeom>
          <a:noFill/>
          <a:ln/>
        </p:spPr>
        <p:txBody>
          <a:bodyPr wrap="square" rtlCol="0" anchor="ctr"/>
          <a:lstStyle/>
          <a:p>
            <a:pPr indent="0" marL="0">
              <a:buNone/>
            </a:pPr>
            <a:r>
              <a:rPr lang="en-US" sz="3200" b="1" dirty="0">
                <a:solidFill>
                  <a:srgbClr val="242424"/>
                </a:solidFill>
                <a:latin typeface="Segoe UI" pitchFamily="34" charset="0"/>
                <a:ea typeface="Segoe UI" pitchFamily="34" charset="-122"/>
                <a:cs typeface="Segoe UI" pitchFamily="34" charset="-120"/>
              </a:rPr>
              <a:t>Six months of passenger pulse data</a:t>
            </a:r>
            <a:endParaRPr lang="en-US" sz="3200" dirty="0"/>
          </a:p>
        </p:txBody>
      </p:sp>
      <p:sp>
        <p:nvSpPr>
          <p:cNvPr id="4" name="Shape 2"/>
          <p:cNvSpPr/>
          <p:nvPr/>
        </p:nvSpPr>
        <p:spPr>
          <a:xfrm>
            <a:off x="640080" y="1783080"/>
            <a:ext cx="5212080" cy="1874520"/>
          </a:xfrm>
          <a:prstGeom prst="roundRect">
            <a:avLst>
              <a:gd name="adj" fmla="val 4878"/>
            </a:avLst>
          </a:prstGeom>
          <a:solidFill>
            <a:srgbClr val="F7F7F8"/>
          </a:solidFill>
          <a:ln w="12700">
            <a:solidFill>
              <a:srgbClr val="F4E3EA"/>
            </a:solidFill>
            <a:prstDash val="solid"/>
          </a:ln>
        </p:spPr>
      </p:sp>
      <p:sp>
        <p:nvSpPr>
          <p:cNvPr id="5" name="Shape 3"/>
          <p:cNvSpPr/>
          <p:nvPr/>
        </p:nvSpPr>
        <p:spPr>
          <a:xfrm>
            <a:off x="640080" y="1783080"/>
            <a:ext cx="109728" cy="1874520"/>
          </a:xfrm>
          <a:prstGeom prst="rect">
            <a:avLst/>
          </a:prstGeom>
          <a:solidFill>
            <a:srgbClr val="B11F4B"/>
          </a:solidFill>
          <a:ln/>
        </p:spPr>
      </p:sp>
      <p:sp>
        <p:nvSpPr>
          <p:cNvPr id="6" name="Text 4"/>
          <p:cNvSpPr/>
          <p:nvPr/>
        </p:nvSpPr>
        <p:spPr>
          <a:xfrm>
            <a:off x="960120" y="2039112"/>
            <a:ext cx="4572000" cy="868680"/>
          </a:xfrm>
          <a:prstGeom prst="rect">
            <a:avLst/>
          </a:prstGeom>
          <a:noFill/>
          <a:ln/>
        </p:spPr>
        <p:txBody>
          <a:bodyPr wrap="square" rtlCol="0" anchor="ctr"/>
          <a:lstStyle/>
          <a:p>
            <a:pPr indent="0" marL="0">
              <a:buNone/>
            </a:pPr>
            <a:r>
              <a:rPr lang="en-US" sz="4000" b="1" dirty="0">
                <a:solidFill>
                  <a:srgbClr val="242424"/>
                </a:solidFill>
                <a:latin typeface="Segoe UI" pitchFamily="34" charset="0"/>
                <a:ea typeface="Segoe UI" pitchFamily="34" charset="-122"/>
                <a:cs typeface="Segoe UI" pitchFamily="34" charset="-120"/>
              </a:rPr>
              <a:t>4.1 / 5</a:t>
            </a:r>
            <a:endParaRPr lang="en-US" sz="4000" dirty="0"/>
          </a:p>
        </p:txBody>
      </p:sp>
      <p:sp>
        <p:nvSpPr>
          <p:cNvPr id="7" name="Text 5"/>
          <p:cNvSpPr/>
          <p:nvPr/>
        </p:nvSpPr>
        <p:spPr>
          <a:xfrm>
            <a:off x="978408" y="2926080"/>
            <a:ext cx="4663440" cy="594360"/>
          </a:xfrm>
          <a:prstGeom prst="rect">
            <a:avLst/>
          </a:prstGeom>
          <a:noFill/>
          <a:ln/>
        </p:spPr>
        <p:txBody>
          <a:bodyPr wrap="square" rtlCol="0" anchor="ctr"/>
          <a:lstStyle/>
          <a:p>
            <a:pPr indent="0" marL="0">
              <a:buNone/>
            </a:pPr>
            <a:r>
              <a:rPr lang="en-US" sz="1500" dirty="0">
                <a:solidFill>
                  <a:srgbClr val="5C5C5C"/>
                </a:solidFill>
                <a:latin typeface="Calibri" pitchFamily="34" charset="0"/>
                <a:ea typeface="Calibri" pitchFamily="34" charset="-122"/>
                <a:cs typeface="Calibri" pitchFamily="34" charset="-120"/>
              </a:rPr>
              <a:t>Overall satisfaction — and rising</a:t>
            </a:r>
            <a:endParaRPr lang="en-US" sz="1500" dirty="0"/>
          </a:p>
        </p:txBody>
      </p:sp>
      <p:sp>
        <p:nvSpPr>
          <p:cNvPr id="8" name="Shape 6"/>
          <p:cNvSpPr/>
          <p:nvPr/>
        </p:nvSpPr>
        <p:spPr>
          <a:xfrm>
            <a:off x="6172200" y="1783080"/>
            <a:ext cx="5212080" cy="1874520"/>
          </a:xfrm>
          <a:prstGeom prst="roundRect">
            <a:avLst>
              <a:gd name="adj" fmla="val 4878"/>
            </a:avLst>
          </a:prstGeom>
          <a:solidFill>
            <a:srgbClr val="F7F7F8"/>
          </a:solidFill>
          <a:ln w="12700">
            <a:solidFill>
              <a:srgbClr val="F4E3EA"/>
            </a:solidFill>
            <a:prstDash val="solid"/>
          </a:ln>
        </p:spPr>
      </p:sp>
      <p:sp>
        <p:nvSpPr>
          <p:cNvPr id="9" name="Shape 7"/>
          <p:cNvSpPr/>
          <p:nvPr/>
        </p:nvSpPr>
        <p:spPr>
          <a:xfrm>
            <a:off x="6172200" y="1783080"/>
            <a:ext cx="109728" cy="1874520"/>
          </a:xfrm>
          <a:prstGeom prst="rect">
            <a:avLst/>
          </a:prstGeom>
          <a:solidFill>
            <a:srgbClr val="B11F4B"/>
          </a:solidFill>
          <a:ln/>
        </p:spPr>
      </p:sp>
      <p:sp>
        <p:nvSpPr>
          <p:cNvPr id="10" name="Text 8"/>
          <p:cNvSpPr/>
          <p:nvPr/>
        </p:nvSpPr>
        <p:spPr>
          <a:xfrm>
            <a:off x="6492240" y="2039112"/>
            <a:ext cx="4572000" cy="868680"/>
          </a:xfrm>
          <a:prstGeom prst="rect">
            <a:avLst/>
          </a:prstGeom>
          <a:noFill/>
          <a:ln/>
        </p:spPr>
        <p:txBody>
          <a:bodyPr wrap="square" rtlCol="0" anchor="ctr"/>
          <a:lstStyle/>
          <a:p>
            <a:pPr indent="0" marL="0">
              <a:buNone/>
            </a:pPr>
            <a:r>
              <a:rPr lang="en-US" sz="4000" b="1" dirty="0">
                <a:solidFill>
                  <a:srgbClr val="242424"/>
                </a:solidFill>
                <a:latin typeface="Segoe UI" pitchFamily="34" charset="0"/>
                <a:ea typeface="Segoe UI" pitchFamily="34" charset="-122"/>
                <a:cs typeface="Segoe UI" pitchFamily="34" charset="-120"/>
              </a:rPr>
              <a:t>3.4</a:t>
            </a:r>
            <a:endParaRPr lang="en-US" sz="4000" dirty="0"/>
          </a:p>
        </p:txBody>
      </p:sp>
      <p:sp>
        <p:nvSpPr>
          <p:cNvPr id="11" name="Text 9"/>
          <p:cNvSpPr/>
          <p:nvPr/>
        </p:nvSpPr>
        <p:spPr>
          <a:xfrm>
            <a:off x="6510528" y="2926080"/>
            <a:ext cx="4663440" cy="594360"/>
          </a:xfrm>
          <a:prstGeom prst="rect">
            <a:avLst/>
          </a:prstGeom>
          <a:noFill/>
          <a:ln/>
        </p:spPr>
        <p:txBody>
          <a:bodyPr wrap="square" rtlCol="0" anchor="ctr"/>
          <a:lstStyle/>
          <a:p>
            <a:pPr indent="0" marL="0">
              <a:buNone/>
            </a:pPr>
            <a:r>
              <a:rPr lang="en-US" sz="1500" dirty="0">
                <a:solidFill>
                  <a:srgbClr val="5C5C5C"/>
                </a:solidFill>
                <a:latin typeface="Calibri" pitchFamily="34" charset="0"/>
                <a:ea typeface="Calibri" pitchFamily="34" charset="-122"/>
                <a:cs typeface="Calibri" pitchFamily="34" charset="-120"/>
              </a:rPr>
              <a:t>Wayfinding — our weakest touchpoint</a:t>
            </a:r>
            <a:endParaRPr lang="en-US" sz="1500" dirty="0"/>
          </a:p>
        </p:txBody>
      </p:sp>
      <p:sp>
        <p:nvSpPr>
          <p:cNvPr id="12" name="Shape 10"/>
          <p:cNvSpPr/>
          <p:nvPr/>
        </p:nvSpPr>
        <p:spPr>
          <a:xfrm>
            <a:off x="640080" y="3931920"/>
            <a:ext cx="5212080" cy="1874520"/>
          </a:xfrm>
          <a:prstGeom prst="roundRect">
            <a:avLst>
              <a:gd name="adj" fmla="val 4878"/>
            </a:avLst>
          </a:prstGeom>
          <a:solidFill>
            <a:srgbClr val="F7F7F8"/>
          </a:solidFill>
          <a:ln w="12700">
            <a:solidFill>
              <a:srgbClr val="F4E3EA"/>
            </a:solidFill>
            <a:prstDash val="solid"/>
          </a:ln>
        </p:spPr>
      </p:sp>
      <p:sp>
        <p:nvSpPr>
          <p:cNvPr id="13" name="Shape 11"/>
          <p:cNvSpPr/>
          <p:nvPr/>
        </p:nvSpPr>
        <p:spPr>
          <a:xfrm>
            <a:off x="640080" y="3931920"/>
            <a:ext cx="109728" cy="1874520"/>
          </a:xfrm>
          <a:prstGeom prst="rect">
            <a:avLst/>
          </a:prstGeom>
          <a:solidFill>
            <a:srgbClr val="B11F4B"/>
          </a:solidFill>
          <a:ln/>
        </p:spPr>
      </p:sp>
      <p:sp>
        <p:nvSpPr>
          <p:cNvPr id="14" name="Text 12"/>
          <p:cNvSpPr/>
          <p:nvPr/>
        </p:nvSpPr>
        <p:spPr>
          <a:xfrm>
            <a:off x="960120" y="4187952"/>
            <a:ext cx="4572000" cy="868680"/>
          </a:xfrm>
          <a:prstGeom prst="rect">
            <a:avLst/>
          </a:prstGeom>
          <a:noFill/>
          <a:ln/>
        </p:spPr>
        <p:txBody>
          <a:bodyPr wrap="square" rtlCol="0" anchor="ctr"/>
          <a:lstStyle/>
          <a:p>
            <a:pPr indent="0" marL="0">
              <a:buNone/>
            </a:pPr>
            <a:r>
              <a:rPr lang="en-US" sz="4000" b="1" dirty="0">
                <a:solidFill>
                  <a:srgbClr val="242424"/>
                </a:solidFill>
                <a:latin typeface="Segoe UI" pitchFamily="34" charset="0"/>
                <a:ea typeface="Segoe UI" pitchFamily="34" charset="-122"/>
                <a:cs typeface="Segoe UI" pitchFamily="34" charset="-120"/>
              </a:rPr>
              <a:t>4.6</a:t>
            </a:r>
            <a:endParaRPr lang="en-US" sz="4000" dirty="0"/>
          </a:p>
        </p:txBody>
      </p:sp>
      <p:sp>
        <p:nvSpPr>
          <p:cNvPr id="15" name="Text 13"/>
          <p:cNvSpPr/>
          <p:nvPr/>
        </p:nvSpPr>
        <p:spPr>
          <a:xfrm>
            <a:off x="978408" y="5074920"/>
            <a:ext cx="4663440" cy="594360"/>
          </a:xfrm>
          <a:prstGeom prst="rect">
            <a:avLst/>
          </a:prstGeom>
          <a:noFill/>
          <a:ln/>
        </p:spPr>
        <p:txBody>
          <a:bodyPr wrap="square" rtlCol="0" anchor="ctr"/>
          <a:lstStyle/>
          <a:p>
            <a:pPr indent="0" marL="0">
              <a:buNone/>
            </a:pPr>
            <a:r>
              <a:rPr lang="en-US" sz="1500" dirty="0">
                <a:solidFill>
                  <a:srgbClr val="5C5C5C"/>
                </a:solidFill>
                <a:latin typeface="Calibri" pitchFamily="34" charset="0"/>
                <a:ea typeface="Calibri" pitchFamily="34" charset="-122"/>
                <a:cs typeface="Calibri" pitchFamily="34" charset="-120"/>
              </a:rPr>
              <a:t>Digital Services — our strongest</a:t>
            </a:r>
            <a:endParaRPr lang="en-US" sz="1500" dirty="0"/>
          </a:p>
        </p:txBody>
      </p:sp>
      <p:sp>
        <p:nvSpPr>
          <p:cNvPr id="16" name="Shape 14"/>
          <p:cNvSpPr/>
          <p:nvPr/>
        </p:nvSpPr>
        <p:spPr>
          <a:xfrm>
            <a:off x="6172200" y="3931920"/>
            <a:ext cx="5212080" cy="1874520"/>
          </a:xfrm>
          <a:prstGeom prst="roundRect">
            <a:avLst>
              <a:gd name="adj" fmla="val 4878"/>
            </a:avLst>
          </a:prstGeom>
          <a:solidFill>
            <a:srgbClr val="F7F7F8"/>
          </a:solidFill>
          <a:ln w="12700">
            <a:solidFill>
              <a:srgbClr val="F4E3EA"/>
            </a:solidFill>
            <a:prstDash val="solid"/>
          </a:ln>
        </p:spPr>
      </p:sp>
      <p:sp>
        <p:nvSpPr>
          <p:cNvPr id="17" name="Shape 15"/>
          <p:cNvSpPr/>
          <p:nvPr/>
        </p:nvSpPr>
        <p:spPr>
          <a:xfrm>
            <a:off x="6172200" y="3931920"/>
            <a:ext cx="109728" cy="1874520"/>
          </a:xfrm>
          <a:prstGeom prst="rect">
            <a:avLst/>
          </a:prstGeom>
          <a:solidFill>
            <a:srgbClr val="B11F4B"/>
          </a:solidFill>
          <a:ln/>
        </p:spPr>
      </p:sp>
      <p:sp>
        <p:nvSpPr>
          <p:cNvPr id="18" name="Text 16"/>
          <p:cNvSpPr/>
          <p:nvPr/>
        </p:nvSpPr>
        <p:spPr>
          <a:xfrm>
            <a:off x="6492240" y="4187952"/>
            <a:ext cx="4572000" cy="868680"/>
          </a:xfrm>
          <a:prstGeom prst="rect">
            <a:avLst/>
          </a:prstGeom>
          <a:noFill/>
          <a:ln/>
        </p:spPr>
        <p:txBody>
          <a:bodyPr wrap="square" rtlCol="0" anchor="ctr"/>
          <a:lstStyle/>
          <a:p>
            <a:pPr indent="0" marL="0">
              <a:buNone/>
            </a:pPr>
            <a:r>
              <a:rPr lang="en-US" sz="4000" b="1" dirty="0">
                <a:solidFill>
                  <a:srgbClr val="242424"/>
                </a:solidFill>
                <a:latin typeface="Segoe UI" pitchFamily="34" charset="0"/>
                <a:ea typeface="Segoe UI" pitchFamily="34" charset="-122"/>
                <a:cs typeface="Segoe UI" pitchFamily="34" charset="-120"/>
              </a:rPr>
              <a:t>+38</a:t>
            </a:r>
            <a:endParaRPr lang="en-US" sz="4000" dirty="0"/>
          </a:p>
        </p:txBody>
      </p:sp>
      <p:sp>
        <p:nvSpPr>
          <p:cNvPr id="19" name="Text 17"/>
          <p:cNvSpPr/>
          <p:nvPr/>
        </p:nvSpPr>
        <p:spPr>
          <a:xfrm>
            <a:off x="6510528" y="5074920"/>
            <a:ext cx="4663440" cy="594360"/>
          </a:xfrm>
          <a:prstGeom prst="rect">
            <a:avLst/>
          </a:prstGeom>
          <a:noFill/>
          <a:ln/>
        </p:spPr>
        <p:txBody>
          <a:bodyPr wrap="square" rtlCol="0" anchor="ctr"/>
          <a:lstStyle/>
          <a:p>
            <a:pPr indent="0" marL="0">
              <a:buNone/>
            </a:pPr>
            <a:r>
              <a:rPr lang="en-US" sz="1500" dirty="0">
                <a:solidFill>
                  <a:srgbClr val="5C5C5C"/>
                </a:solidFill>
                <a:latin typeface="Calibri" pitchFamily="34" charset="0"/>
                <a:ea typeface="Calibri" pitchFamily="34" charset="-122"/>
                <a:cs typeface="Calibri" pitchFamily="34" charset="-120"/>
              </a:rPr>
              <a:t>Overall Net Promoter Score</a:t>
            </a:r>
            <a:endParaRPr lang="en-US" sz="1500" dirty="0"/>
          </a:p>
        </p:txBody>
      </p:sp>
      <p:sp>
        <p:nvSpPr>
          <p:cNvPr id="20" name="Text 18"/>
          <p:cNvSpPr/>
          <p:nvPr/>
        </p:nvSpPr>
        <p:spPr>
          <a:xfrm>
            <a:off x="640080" y="6172200"/>
            <a:ext cx="10881360" cy="411480"/>
          </a:xfrm>
          <a:prstGeom prst="rect">
            <a:avLst/>
          </a:prstGeom>
          <a:noFill/>
          <a:ln/>
        </p:spPr>
        <p:txBody>
          <a:bodyPr wrap="square" rtlCol="0" anchor="ctr"/>
          <a:lstStyle/>
          <a:p>
            <a:pPr indent="0" marL="0">
              <a:buNone/>
            </a:pPr>
            <a:r>
              <a:rPr lang="en-US" sz="1200" i="1" dirty="0">
                <a:solidFill>
                  <a:srgbClr val="5C5C5C"/>
                </a:solidFill>
                <a:latin typeface="Calibri" pitchFamily="34" charset="0"/>
                <a:ea typeface="Calibri" pitchFamily="34" charset="-122"/>
                <a:cs typeface="Calibri" pitchFamily="34" charset="-120"/>
              </a:rPr>
              <a:t>Across eight touchpoints — Check-in, Security, Wayfinding, Lounge, Boarding, Baggage, Digital Services and Retail &amp; Dining — mostly at Terminal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indent="0" marL="0">
              <a:buNone/>
            </a:pPr>
            <a:r>
              <a:rPr lang="en-US" sz="1300" b="1" spc="200" kern="0" dirty="0">
                <a:solidFill>
                  <a:srgbClr val="B11F4B"/>
                </a:solidFill>
                <a:latin typeface="Segoe UI" pitchFamily="34" charset="0"/>
                <a:ea typeface="Segoe UI" pitchFamily="34" charset="-122"/>
                <a:cs typeface="Segoe UI" pitchFamily="34" charset="-120"/>
              </a:rPr>
              <a:t>OUR THREE PILOTS</a:t>
            </a:r>
            <a:endParaRPr lang="en-US" sz="1300" dirty="0"/>
          </a:p>
        </p:txBody>
      </p:sp>
      <p:sp>
        <p:nvSpPr>
          <p:cNvPr id="3" name="Text 1"/>
          <p:cNvSpPr/>
          <p:nvPr/>
        </p:nvSpPr>
        <p:spPr>
          <a:xfrm>
            <a:off x="640080" y="822960"/>
            <a:ext cx="10881360" cy="822960"/>
          </a:xfrm>
          <a:prstGeom prst="rect">
            <a:avLst/>
          </a:prstGeom>
          <a:noFill/>
          <a:ln/>
        </p:spPr>
        <p:txBody>
          <a:bodyPr wrap="square" rtlCol="0" anchor="ctr"/>
          <a:lstStyle/>
          <a:p>
            <a:pPr indent="0" marL="0">
              <a:buNone/>
            </a:pPr>
            <a:r>
              <a:rPr lang="en-US" sz="3200" b="1" dirty="0">
                <a:solidFill>
                  <a:srgbClr val="242424"/>
                </a:solidFill>
                <a:latin typeface="Segoe UI" pitchFamily="34" charset="0"/>
                <a:ea typeface="Segoe UI" pitchFamily="34" charset="-122"/>
                <a:cs typeface="Segoe UI" pitchFamily="34" charset="-120"/>
              </a:rPr>
              <a:t>Small, visible, scalable improvements</a:t>
            </a:r>
            <a:endParaRPr lang="en-US" sz="3200" dirty="0"/>
          </a:p>
        </p:txBody>
      </p:sp>
      <p:sp>
        <p:nvSpPr>
          <p:cNvPr id="4" name="Shape 2"/>
          <p:cNvSpPr/>
          <p:nvPr/>
        </p:nvSpPr>
        <p:spPr>
          <a:xfrm>
            <a:off x="640080" y="1783080"/>
            <a:ext cx="3429000" cy="3520440"/>
          </a:xfrm>
          <a:prstGeom prst="roundRect">
            <a:avLst>
              <a:gd name="adj" fmla="val 3200"/>
            </a:avLst>
          </a:prstGeom>
          <a:solidFill>
            <a:srgbClr val="FFFFFF"/>
          </a:solidFill>
          <a:ln w="19050">
            <a:solidFill>
              <a:srgbClr val="F4E3EA"/>
            </a:solidFill>
            <a:prstDash val="solid"/>
          </a:ln>
        </p:spPr>
      </p:sp>
      <p:sp>
        <p:nvSpPr>
          <p:cNvPr id="5" name="Shape 3"/>
          <p:cNvSpPr/>
          <p:nvPr/>
        </p:nvSpPr>
        <p:spPr>
          <a:xfrm>
            <a:off x="960120" y="2103120"/>
            <a:ext cx="777240" cy="777240"/>
          </a:xfrm>
          <a:prstGeom prst="ellipse">
            <a:avLst/>
          </a:prstGeom>
          <a:solidFill>
            <a:srgbClr val="B11F4B"/>
          </a:solidFill>
          <a:ln/>
        </p:spPr>
      </p:sp>
      <p:sp>
        <p:nvSpPr>
          <p:cNvPr id="6" name="Text 4"/>
          <p:cNvSpPr/>
          <p:nvPr/>
        </p:nvSpPr>
        <p:spPr>
          <a:xfrm>
            <a:off x="960120" y="2103120"/>
            <a:ext cx="777240" cy="777240"/>
          </a:xfrm>
          <a:prstGeom prst="rect">
            <a:avLst/>
          </a:prstGeom>
          <a:noFill/>
          <a:ln/>
        </p:spPr>
        <p:txBody>
          <a:bodyPr wrap="square"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1</a:t>
            </a:r>
            <a:endParaRPr lang="en-US" sz="2600" dirty="0"/>
          </a:p>
        </p:txBody>
      </p:sp>
      <p:sp>
        <p:nvSpPr>
          <p:cNvPr id="7" name="Text 5"/>
          <p:cNvSpPr/>
          <p:nvPr/>
        </p:nvSpPr>
        <p:spPr>
          <a:xfrm>
            <a:off x="960120" y="3063240"/>
            <a:ext cx="2834640" cy="548640"/>
          </a:xfrm>
          <a:prstGeom prst="rect">
            <a:avLst/>
          </a:prstGeom>
          <a:noFill/>
          <a:ln/>
        </p:spPr>
        <p:txBody>
          <a:bodyPr wrap="square" rtlCol="0" anchor="ctr"/>
          <a:lstStyle/>
          <a:p>
            <a:pPr indent="0" marL="0">
              <a:buNone/>
            </a:pPr>
            <a:r>
              <a:rPr lang="en-US" sz="1900" b="1" dirty="0">
                <a:solidFill>
                  <a:srgbClr val="242424"/>
                </a:solidFill>
                <a:latin typeface="Segoe UI" pitchFamily="34" charset="0"/>
                <a:ea typeface="Segoe UI" pitchFamily="34" charset="-122"/>
                <a:cs typeface="Segoe UI" pitchFamily="34" charset="-120"/>
              </a:rPr>
              <a:t>Smart wayfinding</a:t>
            </a:r>
            <a:endParaRPr lang="en-US" sz="1900" dirty="0"/>
          </a:p>
        </p:txBody>
      </p:sp>
      <p:sp>
        <p:nvSpPr>
          <p:cNvPr id="8" name="Text 6"/>
          <p:cNvSpPr/>
          <p:nvPr/>
        </p:nvSpPr>
        <p:spPr>
          <a:xfrm>
            <a:off x="960120" y="3611880"/>
            <a:ext cx="2834640" cy="1188720"/>
          </a:xfrm>
          <a:prstGeom prst="rect">
            <a:avLst/>
          </a:prstGeom>
          <a:noFill/>
          <a:ln/>
        </p:spPr>
        <p:txBody>
          <a:bodyPr wrap="square" rtlCol="0" anchor="ctr"/>
          <a:lstStyle/>
          <a:p>
            <a:pPr indent="0" marL="0">
              <a:lnSpc>
                <a:spcPct val="110000"/>
              </a:lnSpc>
              <a:buNone/>
            </a:pPr>
            <a:r>
              <a:rPr lang="en-US" sz="1400" dirty="0">
                <a:solidFill>
                  <a:srgbClr val="5C5C5C"/>
                </a:solidFill>
                <a:latin typeface="Calibri" pitchFamily="34" charset="0"/>
                <a:ea typeface="Calibri" pitchFamily="34" charset="-122"/>
                <a:cs typeface="Calibri" pitchFamily="34" charset="-120"/>
              </a:rPr>
              <a:t>Clearer digital signage and intuitive directional cues so young flyers move with confidence.</a:t>
            </a:r>
            <a:endParaRPr lang="en-US" sz="1400" dirty="0"/>
          </a:p>
        </p:txBody>
      </p:sp>
      <p:sp>
        <p:nvSpPr>
          <p:cNvPr id="9" name="Text 7"/>
          <p:cNvSpPr/>
          <p:nvPr/>
        </p:nvSpPr>
        <p:spPr>
          <a:xfrm>
            <a:off x="960120" y="4800600"/>
            <a:ext cx="2834640" cy="411480"/>
          </a:xfrm>
          <a:prstGeom prst="rect">
            <a:avLst/>
          </a:prstGeom>
          <a:noFill/>
          <a:ln/>
        </p:spPr>
        <p:txBody>
          <a:bodyPr wrap="square" rtlCol="0" anchor="ctr"/>
          <a:lstStyle/>
          <a:p>
            <a:pPr indent="0" marL="0">
              <a:buNone/>
            </a:pPr>
            <a:r>
              <a:rPr lang="en-US" sz="1700" b="1" dirty="0">
                <a:solidFill>
                  <a:srgbClr val="B11F4B"/>
                </a:solidFill>
                <a:latin typeface="Segoe UI" pitchFamily="34" charset="0"/>
                <a:ea typeface="Segoe UI" pitchFamily="34" charset="-122"/>
                <a:cs typeface="Segoe UI" pitchFamily="34" charset="-120"/>
              </a:rPr>
              <a:t>AED 45,000</a:t>
            </a:r>
            <a:endParaRPr lang="en-US" sz="1700" dirty="0"/>
          </a:p>
        </p:txBody>
      </p:sp>
      <p:sp>
        <p:nvSpPr>
          <p:cNvPr id="10" name="Shape 8"/>
          <p:cNvSpPr/>
          <p:nvPr/>
        </p:nvSpPr>
        <p:spPr>
          <a:xfrm>
            <a:off x="4361688" y="1783080"/>
            <a:ext cx="3429000" cy="3520440"/>
          </a:xfrm>
          <a:prstGeom prst="roundRect">
            <a:avLst>
              <a:gd name="adj" fmla="val 3200"/>
            </a:avLst>
          </a:prstGeom>
          <a:solidFill>
            <a:srgbClr val="FFFFFF"/>
          </a:solidFill>
          <a:ln w="19050">
            <a:solidFill>
              <a:srgbClr val="F4E3EA"/>
            </a:solidFill>
            <a:prstDash val="solid"/>
          </a:ln>
        </p:spPr>
      </p:sp>
      <p:sp>
        <p:nvSpPr>
          <p:cNvPr id="11" name="Shape 9"/>
          <p:cNvSpPr/>
          <p:nvPr/>
        </p:nvSpPr>
        <p:spPr>
          <a:xfrm>
            <a:off x="4681728" y="2103120"/>
            <a:ext cx="777240" cy="777240"/>
          </a:xfrm>
          <a:prstGeom prst="ellipse">
            <a:avLst/>
          </a:prstGeom>
          <a:solidFill>
            <a:srgbClr val="B11F4B"/>
          </a:solidFill>
          <a:ln/>
        </p:spPr>
      </p:sp>
      <p:sp>
        <p:nvSpPr>
          <p:cNvPr id="12" name="Text 10"/>
          <p:cNvSpPr/>
          <p:nvPr/>
        </p:nvSpPr>
        <p:spPr>
          <a:xfrm>
            <a:off x="4681728" y="2103120"/>
            <a:ext cx="777240" cy="777240"/>
          </a:xfrm>
          <a:prstGeom prst="rect">
            <a:avLst/>
          </a:prstGeom>
          <a:noFill/>
          <a:ln/>
        </p:spPr>
        <p:txBody>
          <a:bodyPr wrap="square"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2</a:t>
            </a:r>
            <a:endParaRPr lang="en-US" sz="2600" dirty="0"/>
          </a:p>
        </p:txBody>
      </p:sp>
      <p:sp>
        <p:nvSpPr>
          <p:cNvPr id="13" name="Text 11"/>
          <p:cNvSpPr/>
          <p:nvPr/>
        </p:nvSpPr>
        <p:spPr>
          <a:xfrm>
            <a:off x="4681728" y="3063240"/>
            <a:ext cx="2834640" cy="548640"/>
          </a:xfrm>
          <a:prstGeom prst="rect">
            <a:avLst/>
          </a:prstGeom>
          <a:noFill/>
          <a:ln/>
        </p:spPr>
        <p:txBody>
          <a:bodyPr wrap="square" rtlCol="0" anchor="ctr"/>
          <a:lstStyle/>
          <a:p>
            <a:pPr indent="0" marL="0">
              <a:buNone/>
            </a:pPr>
            <a:r>
              <a:rPr lang="en-US" sz="1900" b="1" dirty="0">
                <a:solidFill>
                  <a:srgbClr val="242424"/>
                </a:solidFill>
                <a:latin typeface="Segoe UI" pitchFamily="34" charset="0"/>
                <a:ea typeface="Segoe UI" pitchFamily="34" charset="-122"/>
                <a:cs typeface="Segoe UI" pitchFamily="34" charset="-120"/>
              </a:rPr>
              <a:t>Youth lounge corner</a:t>
            </a:r>
            <a:endParaRPr lang="en-US" sz="1900" dirty="0"/>
          </a:p>
        </p:txBody>
      </p:sp>
      <p:sp>
        <p:nvSpPr>
          <p:cNvPr id="14" name="Text 12"/>
          <p:cNvSpPr/>
          <p:nvPr/>
        </p:nvSpPr>
        <p:spPr>
          <a:xfrm>
            <a:off x="4681728" y="3611880"/>
            <a:ext cx="2834640" cy="1188720"/>
          </a:xfrm>
          <a:prstGeom prst="rect">
            <a:avLst/>
          </a:prstGeom>
          <a:noFill/>
          <a:ln/>
        </p:spPr>
        <p:txBody>
          <a:bodyPr wrap="square" rtlCol="0" anchor="ctr"/>
          <a:lstStyle/>
          <a:p>
            <a:pPr indent="0" marL="0">
              <a:lnSpc>
                <a:spcPct val="110000"/>
              </a:lnSpc>
              <a:buNone/>
            </a:pPr>
            <a:r>
              <a:rPr lang="en-US" sz="1400" dirty="0">
                <a:solidFill>
                  <a:srgbClr val="5C5C5C"/>
                </a:solidFill>
                <a:latin typeface="Calibri" pitchFamily="34" charset="0"/>
                <a:ea typeface="Calibri" pitchFamily="34" charset="-122"/>
                <a:cs typeface="Calibri" pitchFamily="34" charset="-120"/>
              </a:rPr>
              <a:t>A dedicated rest-and-charge space designed for young and first-time travellers.</a:t>
            </a:r>
            <a:endParaRPr lang="en-US" sz="1400" dirty="0"/>
          </a:p>
        </p:txBody>
      </p:sp>
      <p:sp>
        <p:nvSpPr>
          <p:cNvPr id="15" name="Text 13"/>
          <p:cNvSpPr/>
          <p:nvPr/>
        </p:nvSpPr>
        <p:spPr>
          <a:xfrm>
            <a:off x="4681728" y="4800600"/>
            <a:ext cx="2834640" cy="411480"/>
          </a:xfrm>
          <a:prstGeom prst="rect">
            <a:avLst/>
          </a:prstGeom>
          <a:noFill/>
          <a:ln/>
        </p:spPr>
        <p:txBody>
          <a:bodyPr wrap="square" rtlCol="0" anchor="ctr"/>
          <a:lstStyle/>
          <a:p>
            <a:pPr indent="0" marL="0">
              <a:buNone/>
            </a:pPr>
            <a:r>
              <a:rPr lang="en-US" sz="1700" b="1" dirty="0">
                <a:solidFill>
                  <a:srgbClr val="B11F4B"/>
                </a:solidFill>
                <a:latin typeface="Segoe UI" pitchFamily="34" charset="0"/>
                <a:ea typeface="Segoe UI" pitchFamily="34" charset="-122"/>
                <a:cs typeface="Segoe UI" pitchFamily="34" charset="-120"/>
              </a:rPr>
              <a:t>AED 35,000</a:t>
            </a:r>
            <a:endParaRPr lang="en-US" sz="1700" dirty="0"/>
          </a:p>
        </p:txBody>
      </p:sp>
      <p:sp>
        <p:nvSpPr>
          <p:cNvPr id="16" name="Shape 14"/>
          <p:cNvSpPr/>
          <p:nvPr/>
        </p:nvSpPr>
        <p:spPr>
          <a:xfrm>
            <a:off x="8083296" y="1783080"/>
            <a:ext cx="3429000" cy="3520440"/>
          </a:xfrm>
          <a:prstGeom prst="roundRect">
            <a:avLst>
              <a:gd name="adj" fmla="val 3200"/>
            </a:avLst>
          </a:prstGeom>
          <a:solidFill>
            <a:srgbClr val="FFFFFF"/>
          </a:solidFill>
          <a:ln w="19050">
            <a:solidFill>
              <a:srgbClr val="F4E3EA"/>
            </a:solidFill>
            <a:prstDash val="solid"/>
          </a:ln>
        </p:spPr>
      </p:sp>
      <p:sp>
        <p:nvSpPr>
          <p:cNvPr id="17" name="Shape 15"/>
          <p:cNvSpPr/>
          <p:nvPr/>
        </p:nvSpPr>
        <p:spPr>
          <a:xfrm>
            <a:off x="8403336" y="2103120"/>
            <a:ext cx="777240" cy="777240"/>
          </a:xfrm>
          <a:prstGeom prst="ellipse">
            <a:avLst/>
          </a:prstGeom>
          <a:solidFill>
            <a:srgbClr val="B11F4B"/>
          </a:solidFill>
          <a:ln/>
        </p:spPr>
      </p:sp>
      <p:sp>
        <p:nvSpPr>
          <p:cNvPr id="18" name="Text 16"/>
          <p:cNvSpPr/>
          <p:nvPr/>
        </p:nvSpPr>
        <p:spPr>
          <a:xfrm>
            <a:off x="8403336" y="2103120"/>
            <a:ext cx="777240" cy="777240"/>
          </a:xfrm>
          <a:prstGeom prst="rect">
            <a:avLst/>
          </a:prstGeom>
          <a:noFill/>
          <a:ln/>
        </p:spPr>
        <p:txBody>
          <a:bodyPr wrap="square"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3</a:t>
            </a:r>
            <a:endParaRPr lang="en-US" sz="2600" dirty="0"/>
          </a:p>
        </p:txBody>
      </p:sp>
      <p:sp>
        <p:nvSpPr>
          <p:cNvPr id="19" name="Text 17"/>
          <p:cNvSpPr/>
          <p:nvPr/>
        </p:nvSpPr>
        <p:spPr>
          <a:xfrm>
            <a:off x="8403336" y="3063240"/>
            <a:ext cx="2834640" cy="548640"/>
          </a:xfrm>
          <a:prstGeom prst="rect">
            <a:avLst/>
          </a:prstGeom>
          <a:noFill/>
          <a:ln/>
        </p:spPr>
        <p:txBody>
          <a:bodyPr wrap="square" rtlCol="0" anchor="ctr"/>
          <a:lstStyle/>
          <a:p>
            <a:pPr indent="0" marL="0">
              <a:buNone/>
            </a:pPr>
            <a:r>
              <a:rPr lang="en-US" sz="1900" b="1" dirty="0">
                <a:solidFill>
                  <a:srgbClr val="242424"/>
                </a:solidFill>
                <a:latin typeface="Segoe UI" pitchFamily="34" charset="0"/>
                <a:ea typeface="Segoe UI" pitchFamily="34" charset="-122"/>
                <a:cs typeface="Segoe UI" pitchFamily="34" charset="-120"/>
              </a:rPr>
              <a:t>Sustainability nudge</a:t>
            </a:r>
            <a:endParaRPr lang="en-US" sz="1900" dirty="0"/>
          </a:p>
        </p:txBody>
      </p:sp>
      <p:sp>
        <p:nvSpPr>
          <p:cNvPr id="20" name="Text 18"/>
          <p:cNvSpPr/>
          <p:nvPr/>
        </p:nvSpPr>
        <p:spPr>
          <a:xfrm>
            <a:off x="8403336" y="3611880"/>
            <a:ext cx="2834640" cy="1188720"/>
          </a:xfrm>
          <a:prstGeom prst="rect">
            <a:avLst/>
          </a:prstGeom>
          <a:noFill/>
          <a:ln/>
        </p:spPr>
        <p:txBody>
          <a:bodyPr wrap="square" rtlCol="0" anchor="ctr"/>
          <a:lstStyle/>
          <a:p>
            <a:pPr indent="0" marL="0">
              <a:lnSpc>
                <a:spcPct val="110000"/>
              </a:lnSpc>
              <a:buNone/>
            </a:pPr>
            <a:r>
              <a:rPr lang="en-US" sz="1400" dirty="0">
                <a:solidFill>
                  <a:srgbClr val="5C5C5C"/>
                </a:solidFill>
                <a:latin typeface="Calibri" pitchFamily="34" charset="0"/>
                <a:ea typeface="Calibri" pitchFamily="34" charset="-122"/>
                <a:cs typeface="Calibri" pitchFamily="34" charset="-120"/>
              </a:rPr>
              <a:t>Behavioural prompts that make the greener choice the easy choice.</a:t>
            </a:r>
            <a:endParaRPr lang="en-US" sz="1400" dirty="0"/>
          </a:p>
        </p:txBody>
      </p:sp>
      <p:sp>
        <p:nvSpPr>
          <p:cNvPr id="21" name="Text 19"/>
          <p:cNvSpPr/>
          <p:nvPr/>
        </p:nvSpPr>
        <p:spPr>
          <a:xfrm>
            <a:off x="8403336" y="4800600"/>
            <a:ext cx="2834640" cy="411480"/>
          </a:xfrm>
          <a:prstGeom prst="rect">
            <a:avLst/>
          </a:prstGeom>
          <a:noFill/>
          <a:ln/>
        </p:spPr>
        <p:txBody>
          <a:bodyPr wrap="square" rtlCol="0" anchor="ctr"/>
          <a:lstStyle/>
          <a:p>
            <a:pPr indent="0" marL="0">
              <a:buNone/>
            </a:pPr>
            <a:r>
              <a:rPr lang="en-US" sz="1700" b="1" dirty="0">
                <a:solidFill>
                  <a:srgbClr val="B11F4B"/>
                </a:solidFill>
                <a:latin typeface="Segoe UI" pitchFamily="34" charset="0"/>
                <a:ea typeface="Segoe UI" pitchFamily="34" charset="-122"/>
                <a:cs typeface="Segoe UI" pitchFamily="34" charset="-120"/>
              </a:rPr>
              <a:t>AED 20,000</a:t>
            </a:r>
            <a:endParaRPr lang="en-US" sz="1700" dirty="0"/>
          </a:p>
        </p:txBody>
      </p:sp>
      <p:sp>
        <p:nvSpPr>
          <p:cNvPr id="22" name="Text 20"/>
          <p:cNvSpPr/>
          <p:nvPr/>
        </p:nvSpPr>
        <p:spPr>
          <a:xfrm>
            <a:off x="640080" y="5669280"/>
            <a:ext cx="10881360" cy="457200"/>
          </a:xfrm>
          <a:prstGeom prst="rect">
            <a:avLst/>
          </a:prstGeom>
          <a:noFill/>
          <a:ln/>
        </p:spPr>
        <p:txBody>
          <a:bodyPr wrap="square" rtlCol="0" anchor="ctr"/>
          <a:lstStyle/>
          <a:p>
            <a:pPr algn="ctr" indent="0" marL="0">
              <a:buNone/>
            </a:pPr>
            <a:r>
              <a:rPr lang="en-US" sz="1700" b="1" dirty="0">
                <a:solidFill>
                  <a:srgbClr val="242424"/>
                </a:solidFill>
                <a:latin typeface="Segoe UI" pitchFamily="34" charset="0"/>
                <a:ea typeface="Segoe UI" pitchFamily="34" charset="-122"/>
                <a:cs typeface="Segoe UI" pitchFamily="34" charset="-120"/>
              </a:rPr>
              <a:t>Total pilot investment:  AED 100,000</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indent="0" marL="0">
              <a:buNone/>
            </a:pPr>
            <a:r>
              <a:rPr lang="en-US" sz="1300" b="1" spc="200" kern="0" dirty="0">
                <a:solidFill>
                  <a:srgbClr val="B11F4B"/>
                </a:solidFill>
                <a:latin typeface="Segoe UI" pitchFamily="34" charset="0"/>
                <a:ea typeface="Segoe UI" pitchFamily="34" charset="-122"/>
                <a:cs typeface="Segoe UI" pitchFamily="34" charset="-120"/>
              </a:rPr>
              <a:t>THE SUMMIT</a:t>
            </a:r>
            <a:endParaRPr lang="en-US" sz="1300" dirty="0"/>
          </a:p>
        </p:txBody>
      </p:sp>
      <p:sp>
        <p:nvSpPr>
          <p:cNvPr id="3" name="Text 1"/>
          <p:cNvSpPr/>
          <p:nvPr/>
        </p:nvSpPr>
        <p:spPr>
          <a:xfrm>
            <a:off x="640080" y="822960"/>
            <a:ext cx="10881360" cy="822960"/>
          </a:xfrm>
          <a:prstGeom prst="rect">
            <a:avLst/>
          </a:prstGeom>
          <a:noFill/>
          <a:ln/>
        </p:spPr>
        <p:txBody>
          <a:bodyPr wrap="square" rtlCol="0" anchor="ctr"/>
          <a:lstStyle/>
          <a:p>
            <a:pPr indent="0" marL="0">
              <a:buNone/>
            </a:pPr>
            <a:r>
              <a:rPr lang="en-US" sz="3200" b="1" dirty="0">
                <a:solidFill>
                  <a:srgbClr val="242424"/>
                </a:solidFill>
                <a:latin typeface="Segoe UI" pitchFamily="34" charset="0"/>
                <a:ea typeface="Segoe UI" pitchFamily="34" charset="-122"/>
                <a:cs typeface="Segoe UI" pitchFamily="34" charset="-120"/>
              </a:rPr>
              <a:t>Youth Innovation Summit 2026</a:t>
            </a:r>
            <a:endParaRPr lang="en-US" sz="3200" dirty="0"/>
          </a:p>
        </p:txBody>
      </p:sp>
      <p:sp>
        <p:nvSpPr>
          <p:cNvPr id="4" name="Shape 2"/>
          <p:cNvSpPr/>
          <p:nvPr/>
        </p:nvSpPr>
        <p:spPr>
          <a:xfrm>
            <a:off x="640080" y="1783080"/>
            <a:ext cx="5120640" cy="4023360"/>
          </a:xfrm>
          <a:prstGeom prst="roundRect">
            <a:avLst>
              <a:gd name="adj" fmla="val 2727"/>
            </a:avLst>
          </a:prstGeom>
          <a:solidFill>
            <a:srgbClr val="F7F7F8"/>
          </a:solidFill>
          <a:ln w="12700">
            <a:solidFill>
              <a:srgbClr val="F4E3EA"/>
            </a:solidFill>
            <a:prstDash val="solid"/>
          </a:ln>
        </p:spPr>
      </p:sp>
      <p:sp>
        <p:nvSpPr>
          <p:cNvPr id="5" name="Text 3"/>
          <p:cNvSpPr/>
          <p:nvPr/>
        </p:nvSpPr>
        <p:spPr>
          <a:xfrm>
            <a:off x="914400" y="2103120"/>
            <a:ext cx="4572000" cy="274320"/>
          </a:xfrm>
          <a:prstGeom prst="rect">
            <a:avLst/>
          </a:prstGeom>
          <a:noFill/>
          <a:ln/>
        </p:spPr>
        <p:txBody>
          <a:bodyPr wrap="square" rtlCol="0" anchor="ctr"/>
          <a:lstStyle/>
          <a:p>
            <a:pPr indent="0" marL="0">
              <a:buNone/>
            </a:pPr>
            <a:r>
              <a:rPr lang="en-US" sz="1200" b="1" spc="100" kern="0" dirty="0">
                <a:solidFill>
                  <a:srgbClr val="B11F4B"/>
                </a:solidFill>
                <a:latin typeface="Segoe UI" pitchFamily="34" charset="0"/>
                <a:ea typeface="Segoe UI" pitchFamily="34" charset="-122"/>
                <a:cs typeface="Segoe UI" pitchFamily="34" charset="-120"/>
              </a:rPr>
              <a:t>WHEN</a:t>
            </a:r>
            <a:endParaRPr lang="en-US" sz="1200" dirty="0"/>
          </a:p>
        </p:txBody>
      </p:sp>
      <p:sp>
        <p:nvSpPr>
          <p:cNvPr id="6" name="Text 4"/>
          <p:cNvSpPr/>
          <p:nvPr/>
        </p:nvSpPr>
        <p:spPr>
          <a:xfrm>
            <a:off x="914400" y="2359152"/>
            <a:ext cx="4663440" cy="502920"/>
          </a:xfrm>
          <a:prstGeom prst="rect">
            <a:avLst/>
          </a:prstGeom>
          <a:noFill/>
          <a:ln/>
        </p:spPr>
        <p:txBody>
          <a:bodyPr wrap="square" rtlCol="0" anchor="ctr"/>
          <a:lstStyle/>
          <a:p>
            <a:pPr indent="0" marL="0">
              <a:buNone/>
            </a:pPr>
            <a:r>
              <a:rPr lang="en-US" sz="1700" dirty="0">
                <a:solidFill>
                  <a:srgbClr val="242424"/>
                </a:solidFill>
                <a:latin typeface="Calibri" pitchFamily="34" charset="0"/>
                <a:ea typeface="Calibri" pitchFamily="34" charset="-122"/>
                <a:cs typeface="Calibri" pitchFamily="34" charset="-120"/>
              </a:rPr>
              <a:t>November 2026</a:t>
            </a:r>
            <a:endParaRPr lang="en-US" sz="1700" dirty="0"/>
          </a:p>
        </p:txBody>
      </p:sp>
      <p:sp>
        <p:nvSpPr>
          <p:cNvPr id="7" name="Text 5"/>
          <p:cNvSpPr/>
          <p:nvPr/>
        </p:nvSpPr>
        <p:spPr>
          <a:xfrm>
            <a:off x="914400" y="3017520"/>
            <a:ext cx="4572000" cy="274320"/>
          </a:xfrm>
          <a:prstGeom prst="rect">
            <a:avLst/>
          </a:prstGeom>
          <a:noFill/>
          <a:ln/>
        </p:spPr>
        <p:txBody>
          <a:bodyPr wrap="square" rtlCol="0" anchor="ctr"/>
          <a:lstStyle/>
          <a:p>
            <a:pPr indent="0" marL="0">
              <a:buNone/>
            </a:pPr>
            <a:r>
              <a:rPr lang="en-US" sz="1200" b="1" spc="100" kern="0" dirty="0">
                <a:solidFill>
                  <a:srgbClr val="B11F4B"/>
                </a:solidFill>
                <a:latin typeface="Segoe UI" pitchFamily="34" charset="0"/>
                <a:ea typeface="Segoe UI" pitchFamily="34" charset="-122"/>
                <a:cs typeface="Segoe UI" pitchFamily="34" charset="-120"/>
              </a:rPr>
              <a:t>WHERE</a:t>
            </a:r>
            <a:endParaRPr lang="en-US" sz="1200" dirty="0"/>
          </a:p>
        </p:txBody>
      </p:sp>
      <p:sp>
        <p:nvSpPr>
          <p:cNvPr id="8" name="Text 6"/>
          <p:cNvSpPr/>
          <p:nvPr/>
        </p:nvSpPr>
        <p:spPr>
          <a:xfrm>
            <a:off x="914400" y="3273552"/>
            <a:ext cx="4663440" cy="502920"/>
          </a:xfrm>
          <a:prstGeom prst="rect">
            <a:avLst/>
          </a:prstGeom>
          <a:noFill/>
          <a:ln/>
        </p:spPr>
        <p:txBody>
          <a:bodyPr wrap="square" rtlCol="0" anchor="ctr"/>
          <a:lstStyle/>
          <a:p>
            <a:pPr indent="0" marL="0">
              <a:buNone/>
            </a:pPr>
            <a:r>
              <a:rPr lang="en-US" sz="1700" dirty="0">
                <a:solidFill>
                  <a:srgbClr val="242424"/>
                </a:solidFill>
                <a:latin typeface="Calibri" pitchFamily="34" charset="0"/>
                <a:ea typeface="Calibri" pitchFamily="34" charset="-122"/>
                <a:cs typeface="Calibri" pitchFamily="34" charset="-120"/>
              </a:rPr>
              <a:t>Terminal 3 innovation space</a:t>
            </a:r>
            <a:endParaRPr lang="en-US" sz="1700" dirty="0"/>
          </a:p>
        </p:txBody>
      </p:sp>
      <p:sp>
        <p:nvSpPr>
          <p:cNvPr id="9" name="Text 7"/>
          <p:cNvSpPr/>
          <p:nvPr/>
        </p:nvSpPr>
        <p:spPr>
          <a:xfrm>
            <a:off x="914400" y="3931920"/>
            <a:ext cx="4572000" cy="274320"/>
          </a:xfrm>
          <a:prstGeom prst="rect">
            <a:avLst/>
          </a:prstGeom>
          <a:noFill/>
          <a:ln/>
        </p:spPr>
        <p:txBody>
          <a:bodyPr wrap="square" rtlCol="0" anchor="ctr"/>
          <a:lstStyle/>
          <a:p>
            <a:pPr indent="0" marL="0">
              <a:buNone/>
            </a:pPr>
            <a:r>
              <a:rPr lang="en-US" sz="1200" b="1" spc="100" kern="0" dirty="0">
                <a:solidFill>
                  <a:srgbClr val="B11F4B"/>
                </a:solidFill>
                <a:latin typeface="Segoe UI" pitchFamily="34" charset="0"/>
                <a:ea typeface="Segoe UI" pitchFamily="34" charset="-122"/>
                <a:cs typeface="Segoe UI" pitchFamily="34" charset="-120"/>
              </a:rPr>
              <a:t>WHO</a:t>
            </a:r>
            <a:endParaRPr lang="en-US" sz="1200" dirty="0"/>
          </a:p>
        </p:txBody>
      </p:sp>
      <p:sp>
        <p:nvSpPr>
          <p:cNvPr id="10" name="Text 8"/>
          <p:cNvSpPr/>
          <p:nvPr/>
        </p:nvSpPr>
        <p:spPr>
          <a:xfrm>
            <a:off x="914400" y="4187952"/>
            <a:ext cx="4663440" cy="502920"/>
          </a:xfrm>
          <a:prstGeom prst="rect">
            <a:avLst/>
          </a:prstGeom>
          <a:noFill/>
          <a:ln/>
        </p:spPr>
        <p:txBody>
          <a:bodyPr wrap="square" rtlCol="0" anchor="ctr"/>
          <a:lstStyle/>
          <a:p>
            <a:pPr indent="0" marL="0">
              <a:buNone/>
            </a:pPr>
            <a:r>
              <a:rPr lang="en-US" sz="1700" dirty="0">
                <a:solidFill>
                  <a:srgbClr val="242424"/>
                </a:solidFill>
                <a:latin typeface="Calibri" pitchFamily="34" charset="0"/>
                <a:ea typeface="Calibri" pitchFamily="34" charset="-122"/>
                <a:cs typeface="Calibri" pitchFamily="34" charset="-120"/>
              </a:rPr>
              <a:t>Young employees &amp; Youth Council members</a:t>
            </a:r>
            <a:endParaRPr lang="en-US" sz="1700" dirty="0"/>
          </a:p>
        </p:txBody>
      </p:sp>
      <p:sp>
        <p:nvSpPr>
          <p:cNvPr id="11" name="Text 9"/>
          <p:cNvSpPr/>
          <p:nvPr/>
        </p:nvSpPr>
        <p:spPr>
          <a:xfrm>
            <a:off x="914400" y="4846320"/>
            <a:ext cx="4572000" cy="274320"/>
          </a:xfrm>
          <a:prstGeom prst="rect">
            <a:avLst/>
          </a:prstGeom>
          <a:noFill/>
          <a:ln/>
        </p:spPr>
        <p:txBody>
          <a:bodyPr wrap="square" rtlCol="0" anchor="ctr"/>
          <a:lstStyle/>
          <a:p>
            <a:pPr indent="0" marL="0">
              <a:buNone/>
            </a:pPr>
            <a:r>
              <a:rPr lang="en-US" sz="1200" b="1" spc="100" kern="0" dirty="0">
                <a:solidFill>
                  <a:srgbClr val="B11F4B"/>
                </a:solidFill>
                <a:latin typeface="Segoe UI" pitchFamily="34" charset="0"/>
                <a:ea typeface="Segoe UI" pitchFamily="34" charset="-122"/>
                <a:cs typeface="Segoe UI" pitchFamily="34" charset="-120"/>
              </a:rPr>
              <a:t>BUDGET</a:t>
            </a:r>
            <a:endParaRPr lang="en-US" sz="1200" dirty="0"/>
          </a:p>
        </p:txBody>
      </p:sp>
      <p:sp>
        <p:nvSpPr>
          <p:cNvPr id="12" name="Text 10"/>
          <p:cNvSpPr/>
          <p:nvPr/>
        </p:nvSpPr>
        <p:spPr>
          <a:xfrm>
            <a:off x="914400" y="5102352"/>
            <a:ext cx="4663440" cy="502920"/>
          </a:xfrm>
          <a:prstGeom prst="rect">
            <a:avLst/>
          </a:prstGeom>
          <a:noFill/>
          <a:ln/>
        </p:spPr>
        <p:txBody>
          <a:bodyPr wrap="square" rtlCol="0" anchor="ctr"/>
          <a:lstStyle/>
          <a:p>
            <a:pPr indent="0" marL="0">
              <a:buNone/>
            </a:pPr>
            <a:r>
              <a:rPr lang="en-US" sz="1700" dirty="0">
                <a:solidFill>
                  <a:srgbClr val="242424"/>
                </a:solidFill>
                <a:latin typeface="Calibri" pitchFamily="34" charset="0"/>
                <a:ea typeface="Calibri" pitchFamily="34" charset="-122"/>
                <a:cs typeface="Calibri" pitchFamily="34" charset="-120"/>
              </a:rPr>
              <a:t>AED 150,000</a:t>
            </a:r>
            <a:endParaRPr lang="en-US" sz="1700" dirty="0"/>
          </a:p>
        </p:txBody>
      </p:sp>
      <p:sp>
        <p:nvSpPr>
          <p:cNvPr id="13" name="Text 11"/>
          <p:cNvSpPr/>
          <p:nvPr/>
        </p:nvSpPr>
        <p:spPr>
          <a:xfrm>
            <a:off x="6126480" y="1783080"/>
            <a:ext cx="5486400" cy="457200"/>
          </a:xfrm>
          <a:prstGeom prst="rect">
            <a:avLst/>
          </a:prstGeom>
          <a:noFill/>
          <a:ln/>
        </p:spPr>
        <p:txBody>
          <a:bodyPr wrap="square" rtlCol="0" anchor="ctr"/>
          <a:lstStyle/>
          <a:p>
            <a:pPr indent="0" marL="0">
              <a:buNone/>
            </a:pPr>
            <a:r>
              <a:rPr lang="en-US" sz="2000" b="1" dirty="0">
                <a:solidFill>
                  <a:srgbClr val="242424"/>
                </a:solidFill>
                <a:latin typeface="Segoe UI" pitchFamily="34" charset="0"/>
                <a:ea typeface="Segoe UI" pitchFamily="34" charset="-122"/>
                <a:cs typeface="Segoe UI" pitchFamily="34" charset="-120"/>
              </a:rPr>
              <a:t>How it works</a:t>
            </a:r>
            <a:endParaRPr lang="en-US" sz="2000" dirty="0"/>
          </a:p>
        </p:txBody>
      </p:sp>
      <p:sp>
        <p:nvSpPr>
          <p:cNvPr id="14" name="Shape 12"/>
          <p:cNvSpPr/>
          <p:nvPr/>
        </p:nvSpPr>
        <p:spPr>
          <a:xfrm>
            <a:off x="6126480" y="2423160"/>
            <a:ext cx="502920" cy="502920"/>
          </a:xfrm>
          <a:prstGeom prst="ellipse">
            <a:avLst/>
          </a:prstGeom>
          <a:solidFill>
            <a:srgbClr val="B11F4B"/>
          </a:solidFill>
          <a:ln/>
        </p:spPr>
      </p:sp>
      <p:sp>
        <p:nvSpPr>
          <p:cNvPr id="15" name="Text 13"/>
          <p:cNvSpPr/>
          <p:nvPr/>
        </p:nvSpPr>
        <p:spPr>
          <a:xfrm>
            <a:off x="6126480" y="242316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16" name="Text 14"/>
          <p:cNvSpPr/>
          <p:nvPr/>
        </p:nvSpPr>
        <p:spPr>
          <a:xfrm>
            <a:off x="6812280" y="2404872"/>
            <a:ext cx="4754880" cy="640080"/>
          </a:xfrm>
          <a:prstGeom prst="rect">
            <a:avLst/>
          </a:prstGeom>
          <a:noFill/>
          <a:ln/>
        </p:spPr>
        <p:txBody>
          <a:bodyPr wrap="square" rtlCol="0" anchor="ctr"/>
          <a:lstStyle/>
          <a:p>
            <a:pPr indent="0" marL="0">
              <a:lnSpc>
                <a:spcPct val="105000"/>
              </a:lnSpc>
              <a:buNone/>
            </a:pPr>
            <a:r>
              <a:rPr lang="en-US" sz="1500" dirty="0">
                <a:solidFill>
                  <a:srgbClr val="242424"/>
                </a:solidFill>
                <a:latin typeface="Calibri" pitchFamily="34" charset="0"/>
                <a:ea typeface="Calibri" pitchFamily="34" charset="-122"/>
                <a:cs typeface="Calibri" pitchFamily="34" charset="-120"/>
              </a:rPr>
              <a:t>Young teams submit a short idea via the Youth Council form</a:t>
            </a:r>
            <a:endParaRPr lang="en-US" sz="1500" dirty="0"/>
          </a:p>
        </p:txBody>
      </p:sp>
      <p:sp>
        <p:nvSpPr>
          <p:cNvPr id="17" name="Shape 15"/>
          <p:cNvSpPr/>
          <p:nvPr/>
        </p:nvSpPr>
        <p:spPr>
          <a:xfrm>
            <a:off x="6126480" y="3291840"/>
            <a:ext cx="502920" cy="502920"/>
          </a:xfrm>
          <a:prstGeom prst="ellipse">
            <a:avLst/>
          </a:prstGeom>
          <a:solidFill>
            <a:srgbClr val="B11F4B"/>
          </a:solidFill>
          <a:ln/>
        </p:spPr>
      </p:sp>
      <p:sp>
        <p:nvSpPr>
          <p:cNvPr id="18" name="Text 16"/>
          <p:cNvSpPr/>
          <p:nvPr/>
        </p:nvSpPr>
        <p:spPr>
          <a:xfrm>
            <a:off x="6126480" y="329184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9" name="Text 17"/>
          <p:cNvSpPr/>
          <p:nvPr/>
        </p:nvSpPr>
        <p:spPr>
          <a:xfrm>
            <a:off x="6812280" y="3273552"/>
            <a:ext cx="4754880" cy="640080"/>
          </a:xfrm>
          <a:prstGeom prst="rect">
            <a:avLst/>
          </a:prstGeom>
          <a:noFill/>
          <a:ln/>
        </p:spPr>
        <p:txBody>
          <a:bodyPr wrap="square" rtlCol="0" anchor="ctr"/>
          <a:lstStyle/>
          <a:p>
            <a:pPr indent="0" marL="0">
              <a:lnSpc>
                <a:spcPct val="105000"/>
              </a:lnSpc>
              <a:buNone/>
            </a:pPr>
            <a:r>
              <a:rPr lang="en-US" sz="1500" dirty="0">
                <a:solidFill>
                  <a:srgbClr val="242424"/>
                </a:solidFill>
                <a:latin typeface="Calibri" pitchFamily="34" charset="0"/>
                <a:ea typeface="Calibri" pitchFamily="34" charset="-122"/>
                <a:cs typeface="Calibri" pitchFamily="34" charset="-120"/>
              </a:rPr>
              <a:t>A panel shortlists the strongest traveller-impact ideas</a:t>
            </a:r>
            <a:endParaRPr lang="en-US" sz="1500" dirty="0"/>
          </a:p>
        </p:txBody>
      </p:sp>
      <p:sp>
        <p:nvSpPr>
          <p:cNvPr id="20" name="Shape 18"/>
          <p:cNvSpPr/>
          <p:nvPr/>
        </p:nvSpPr>
        <p:spPr>
          <a:xfrm>
            <a:off x="6126480" y="4160520"/>
            <a:ext cx="502920" cy="502920"/>
          </a:xfrm>
          <a:prstGeom prst="ellipse">
            <a:avLst/>
          </a:prstGeom>
          <a:solidFill>
            <a:srgbClr val="B11F4B"/>
          </a:solidFill>
          <a:ln/>
        </p:spPr>
      </p:sp>
      <p:sp>
        <p:nvSpPr>
          <p:cNvPr id="21" name="Text 19"/>
          <p:cNvSpPr/>
          <p:nvPr/>
        </p:nvSpPr>
        <p:spPr>
          <a:xfrm>
            <a:off x="6126480" y="416052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22" name="Text 20"/>
          <p:cNvSpPr/>
          <p:nvPr/>
        </p:nvSpPr>
        <p:spPr>
          <a:xfrm>
            <a:off x="6812280" y="4142232"/>
            <a:ext cx="4754880" cy="640080"/>
          </a:xfrm>
          <a:prstGeom prst="rect">
            <a:avLst/>
          </a:prstGeom>
          <a:noFill/>
          <a:ln/>
        </p:spPr>
        <p:txBody>
          <a:bodyPr wrap="square" rtlCol="0" anchor="ctr"/>
          <a:lstStyle/>
          <a:p>
            <a:pPr indent="0" marL="0">
              <a:lnSpc>
                <a:spcPct val="105000"/>
              </a:lnSpc>
              <a:buNone/>
            </a:pPr>
            <a:r>
              <a:rPr lang="en-US" sz="1500" dirty="0">
                <a:solidFill>
                  <a:srgbClr val="242424"/>
                </a:solidFill>
                <a:latin typeface="Calibri" pitchFamily="34" charset="0"/>
                <a:ea typeface="Calibri" pitchFamily="34" charset="-122"/>
                <a:cs typeface="Calibri" pitchFamily="34" charset="-120"/>
              </a:rPr>
              <a:t>Shortlisted teams present live at the summit in T3</a:t>
            </a:r>
            <a:endParaRPr lang="en-US" sz="1500" dirty="0"/>
          </a:p>
        </p:txBody>
      </p:sp>
      <p:sp>
        <p:nvSpPr>
          <p:cNvPr id="23" name="Shape 21"/>
          <p:cNvSpPr/>
          <p:nvPr/>
        </p:nvSpPr>
        <p:spPr>
          <a:xfrm>
            <a:off x="6126480" y="5029200"/>
            <a:ext cx="502920" cy="502920"/>
          </a:xfrm>
          <a:prstGeom prst="ellipse">
            <a:avLst/>
          </a:prstGeom>
          <a:solidFill>
            <a:srgbClr val="B11F4B"/>
          </a:solidFill>
          <a:ln/>
        </p:spPr>
      </p:sp>
      <p:sp>
        <p:nvSpPr>
          <p:cNvPr id="24" name="Text 22"/>
          <p:cNvSpPr/>
          <p:nvPr/>
        </p:nvSpPr>
        <p:spPr>
          <a:xfrm>
            <a:off x="6126480" y="502920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5" name="Text 23"/>
          <p:cNvSpPr/>
          <p:nvPr/>
        </p:nvSpPr>
        <p:spPr>
          <a:xfrm>
            <a:off x="6812280" y="5010912"/>
            <a:ext cx="4754880" cy="640080"/>
          </a:xfrm>
          <a:prstGeom prst="rect">
            <a:avLst/>
          </a:prstGeom>
          <a:noFill/>
          <a:ln/>
        </p:spPr>
        <p:txBody>
          <a:bodyPr wrap="square" rtlCol="0" anchor="ctr"/>
          <a:lstStyle/>
          <a:p>
            <a:pPr indent="0" marL="0">
              <a:lnSpc>
                <a:spcPct val="105000"/>
              </a:lnSpc>
              <a:buNone/>
            </a:pPr>
            <a:r>
              <a:rPr lang="en-US" sz="1500" dirty="0">
                <a:solidFill>
                  <a:srgbClr val="242424"/>
                </a:solidFill>
                <a:latin typeface="Calibri" pitchFamily="34" charset="0"/>
                <a:ea typeface="Calibri" pitchFamily="34" charset="-122"/>
                <a:cs typeface="Calibri" pitchFamily="34" charset="-120"/>
              </a:rPr>
              <a:t>Standout ideas become pilots in 2027</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11F4B"/>
        </a:solidFill>
      </p:bgPr>
    </p:bg>
    <p:spTree>
      <p:nvGrpSpPr>
        <p:cNvPr id="1" name=""/>
        <p:cNvGrpSpPr/>
        <p:nvPr/>
      </p:nvGrpSpPr>
      <p:grpSpPr>
        <a:xfrm>
          <a:off x="0" y="0"/>
          <a:ext cx="0" cy="0"/>
          <a:chOff x="0" y="0"/>
          <a:chExt cx="0" cy="0"/>
        </a:xfrm>
      </p:grpSpPr>
      <p:sp>
        <p:nvSpPr>
          <p:cNvPr id="2" name="Text 0"/>
          <p:cNvSpPr/>
          <p:nvPr/>
        </p:nvSpPr>
        <p:spPr>
          <a:xfrm>
            <a:off x="640080" y="640080"/>
            <a:ext cx="9144000" cy="365760"/>
          </a:xfrm>
          <a:prstGeom prst="rect">
            <a:avLst/>
          </a:prstGeom>
          <a:noFill/>
          <a:ln/>
        </p:spPr>
        <p:txBody>
          <a:bodyPr wrap="square" rtlCol="0" anchor="ctr"/>
          <a:lstStyle/>
          <a:p>
            <a:pPr indent="0" marL="0">
              <a:buNone/>
            </a:pPr>
            <a:r>
              <a:rPr lang="en-US" sz="1400" b="1" spc="200" kern="0" dirty="0">
                <a:solidFill>
                  <a:srgbClr val="F4E3EA"/>
                </a:solidFill>
                <a:latin typeface="Segoe UI" pitchFamily="34" charset="0"/>
                <a:ea typeface="Segoe UI" pitchFamily="34" charset="-122"/>
                <a:cs typeface="Segoe UI" pitchFamily="34" charset="-120"/>
              </a:rPr>
              <a:t>WHAT WE ARE ASKING</a:t>
            </a:r>
            <a:endParaRPr lang="en-US" sz="1400" dirty="0"/>
          </a:p>
        </p:txBody>
      </p:sp>
      <p:sp>
        <p:nvSpPr>
          <p:cNvPr id="3" name="Text 1"/>
          <p:cNvSpPr/>
          <p:nvPr/>
        </p:nvSpPr>
        <p:spPr>
          <a:xfrm>
            <a:off x="640080" y="1051560"/>
            <a:ext cx="10881360" cy="8229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Three decisions from leadership</a:t>
            </a:r>
            <a:endParaRPr lang="en-US" sz="3200" dirty="0"/>
          </a:p>
        </p:txBody>
      </p:sp>
      <p:sp>
        <p:nvSpPr>
          <p:cNvPr id="4" name="Shape 2"/>
          <p:cNvSpPr/>
          <p:nvPr/>
        </p:nvSpPr>
        <p:spPr>
          <a:xfrm>
            <a:off x="640080" y="2286000"/>
            <a:ext cx="3429000" cy="2743200"/>
          </a:xfrm>
          <a:prstGeom prst="roundRect">
            <a:avLst>
              <a:gd name="adj" fmla="val 4000"/>
            </a:avLst>
          </a:prstGeom>
          <a:solidFill>
            <a:srgbClr val="FFFFFF"/>
          </a:solidFill>
          <a:ln/>
        </p:spPr>
      </p:sp>
      <p:sp>
        <p:nvSpPr>
          <p:cNvPr id="5" name="Text 3"/>
          <p:cNvSpPr/>
          <p:nvPr/>
        </p:nvSpPr>
        <p:spPr>
          <a:xfrm>
            <a:off x="960120" y="2560320"/>
            <a:ext cx="914400" cy="731520"/>
          </a:xfrm>
          <a:prstGeom prst="rect">
            <a:avLst/>
          </a:prstGeom>
          <a:noFill/>
          <a:ln/>
        </p:spPr>
        <p:txBody>
          <a:bodyPr wrap="square" rtlCol="0" anchor="ctr"/>
          <a:lstStyle/>
          <a:p>
            <a:pPr indent="0" marL="0">
              <a:buNone/>
            </a:pPr>
            <a:r>
              <a:rPr lang="en-US" sz="3400" b="1" dirty="0">
                <a:solidFill>
                  <a:srgbClr val="B11F4B"/>
                </a:solidFill>
                <a:latin typeface="Segoe UI" pitchFamily="34" charset="0"/>
                <a:ea typeface="Segoe UI" pitchFamily="34" charset="-122"/>
                <a:cs typeface="Segoe UI" pitchFamily="34" charset="-120"/>
              </a:rPr>
              <a:t>1</a:t>
            </a:r>
            <a:endParaRPr lang="en-US" sz="3400" dirty="0"/>
          </a:p>
        </p:txBody>
      </p:sp>
      <p:sp>
        <p:nvSpPr>
          <p:cNvPr id="6" name="Text 4"/>
          <p:cNvSpPr/>
          <p:nvPr/>
        </p:nvSpPr>
        <p:spPr>
          <a:xfrm>
            <a:off x="960120" y="3383280"/>
            <a:ext cx="2834640" cy="548640"/>
          </a:xfrm>
          <a:prstGeom prst="rect">
            <a:avLst/>
          </a:prstGeom>
          <a:noFill/>
          <a:ln/>
        </p:spPr>
        <p:txBody>
          <a:bodyPr wrap="square" rtlCol="0" anchor="ctr"/>
          <a:lstStyle/>
          <a:p>
            <a:pPr indent="0" marL="0">
              <a:buNone/>
            </a:pPr>
            <a:r>
              <a:rPr lang="en-US" sz="1900" b="1" dirty="0">
                <a:solidFill>
                  <a:srgbClr val="242424"/>
                </a:solidFill>
                <a:latin typeface="Segoe UI" pitchFamily="34" charset="0"/>
                <a:ea typeface="Segoe UI" pitchFamily="34" charset="-122"/>
                <a:cs typeface="Segoe UI" pitchFamily="34" charset="-120"/>
              </a:rPr>
              <a:t>Approve the budget</a:t>
            </a:r>
            <a:endParaRPr lang="en-US" sz="1900" dirty="0"/>
          </a:p>
        </p:txBody>
      </p:sp>
      <p:sp>
        <p:nvSpPr>
          <p:cNvPr id="7" name="Text 5"/>
          <p:cNvSpPr/>
          <p:nvPr/>
        </p:nvSpPr>
        <p:spPr>
          <a:xfrm>
            <a:off x="960120" y="3931920"/>
            <a:ext cx="2834640" cy="914400"/>
          </a:xfrm>
          <a:prstGeom prst="rect">
            <a:avLst/>
          </a:prstGeom>
          <a:noFill/>
          <a:ln/>
        </p:spPr>
        <p:txBody>
          <a:bodyPr wrap="square" rtlCol="0" anchor="ctr"/>
          <a:lstStyle/>
          <a:p>
            <a:pPr indent="0" marL="0">
              <a:lnSpc>
                <a:spcPct val="110000"/>
              </a:lnSpc>
              <a:buNone/>
            </a:pPr>
            <a:r>
              <a:rPr lang="en-US" sz="1450" dirty="0">
                <a:solidFill>
                  <a:srgbClr val="5C5C5C"/>
                </a:solidFill>
                <a:latin typeface="Calibri" pitchFamily="34" charset="0"/>
                <a:ea typeface="Calibri" pitchFamily="34" charset="-122"/>
                <a:cs typeface="Calibri" pitchFamily="34" charset="-120"/>
              </a:rPr>
              <a:t>AED 250,000 — summit plus three pilots</a:t>
            </a:r>
            <a:endParaRPr lang="en-US" sz="1450" dirty="0"/>
          </a:p>
        </p:txBody>
      </p:sp>
      <p:sp>
        <p:nvSpPr>
          <p:cNvPr id="8" name="Shape 6"/>
          <p:cNvSpPr/>
          <p:nvPr/>
        </p:nvSpPr>
        <p:spPr>
          <a:xfrm>
            <a:off x="4361688" y="2286000"/>
            <a:ext cx="3429000" cy="2743200"/>
          </a:xfrm>
          <a:prstGeom prst="roundRect">
            <a:avLst>
              <a:gd name="adj" fmla="val 4000"/>
            </a:avLst>
          </a:prstGeom>
          <a:solidFill>
            <a:srgbClr val="FFFFFF"/>
          </a:solidFill>
          <a:ln/>
        </p:spPr>
      </p:sp>
      <p:sp>
        <p:nvSpPr>
          <p:cNvPr id="9" name="Text 7"/>
          <p:cNvSpPr/>
          <p:nvPr/>
        </p:nvSpPr>
        <p:spPr>
          <a:xfrm>
            <a:off x="4681728" y="2560320"/>
            <a:ext cx="914400" cy="731520"/>
          </a:xfrm>
          <a:prstGeom prst="rect">
            <a:avLst/>
          </a:prstGeom>
          <a:noFill/>
          <a:ln/>
        </p:spPr>
        <p:txBody>
          <a:bodyPr wrap="square" rtlCol="0" anchor="ctr"/>
          <a:lstStyle/>
          <a:p>
            <a:pPr indent="0" marL="0">
              <a:buNone/>
            </a:pPr>
            <a:r>
              <a:rPr lang="en-US" sz="3400" b="1" dirty="0">
                <a:solidFill>
                  <a:srgbClr val="B11F4B"/>
                </a:solidFill>
                <a:latin typeface="Segoe UI" pitchFamily="34" charset="0"/>
                <a:ea typeface="Segoe UI" pitchFamily="34" charset="-122"/>
                <a:cs typeface="Segoe UI" pitchFamily="34" charset="-120"/>
              </a:rPr>
              <a:t>2</a:t>
            </a:r>
            <a:endParaRPr lang="en-US" sz="3400" dirty="0"/>
          </a:p>
        </p:txBody>
      </p:sp>
      <p:sp>
        <p:nvSpPr>
          <p:cNvPr id="10" name="Text 8"/>
          <p:cNvSpPr/>
          <p:nvPr/>
        </p:nvSpPr>
        <p:spPr>
          <a:xfrm>
            <a:off x="4681728" y="3383280"/>
            <a:ext cx="2834640" cy="548640"/>
          </a:xfrm>
          <a:prstGeom prst="rect">
            <a:avLst/>
          </a:prstGeom>
          <a:noFill/>
          <a:ln/>
        </p:spPr>
        <p:txBody>
          <a:bodyPr wrap="square" rtlCol="0" anchor="ctr"/>
          <a:lstStyle/>
          <a:p>
            <a:pPr indent="0" marL="0">
              <a:buNone/>
            </a:pPr>
            <a:r>
              <a:rPr lang="en-US" sz="1900" b="1" dirty="0">
                <a:solidFill>
                  <a:srgbClr val="242424"/>
                </a:solidFill>
                <a:latin typeface="Segoe UI" pitchFamily="34" charset="0"/>
                <a:ea typeface="Segoe UI" pitchFamily="34" charset="-122"/>
                <a:cs typeface="Segoe UI" pitchFamily="34" charset="-120"/>
              </a:rPr>
              <a:t>Endorse the date</a:t>
            </a:r>
            <a:endParaRPr lang="en-US" sz="1900" dirty="0"/>
          </a:p>
        </p:txBody>
      </p:sp>
      <p:sp>
        <p:nvSpPr>
          <p:cNvPr id="11" name="Text 9"/>
          <p:cNvSpPr/>
          <p:nvPr/>
        </p:nvSpPr>
        <p:spPr>
          <a:xfrm>
            <a:off x="4681728" y="3931920"/>
            <a:ext cx="2834640" cy="914400"/>
          </a:xfrm>
          <a:prstGeom prst="rect">
            <a:avLst/>
          </a:prstGeom>
          <a:noFill/>
          <a:ln/>
        </p:spPr>
        <p:txBody>
          <a:bodyPr wrap="square" rtlCol="0" anchor="ctr"/>
          <a:lstStyle/>
          <a:p>
            <a:pPr indent="0" marL="0">
              <a:lnSpc>
                <a:spcPct val="110000"/>
              </a:lnSpc>
              <a:buNone/>
            </a:pPr>
            <a:r>
              <a:rPr lang="en-US" sz="1450" dirty="0">
                <a:solidFill>
                  <a:srgbClr val="5C5C5C"/>
                </a:solidFill>
                <a:latin typeface="Calibri" pitchFamily="34" charset="0"/>
                <a:ea typeface="Calibri" pitchFamily="34" charset="-122"/>
                <a:cs typeface="Calibri" pitchFamily="34" charset="-120"/>
              </a:rPr>
              <a:t>November 2026, late-November window</a:t>
            </a:r>
            <a:endParaRPr lang="en-US" sz="1450" dirty="0"/>
          </a:p>
        </p:txBody>
      </p:sp>
      <p:sp>
        <p:nvSpPr>
          <p:cNvPr id="12" name="Shape 10"/>
          <p:cNvSpPr/>
          <p:nvPr/>
        </p:nvSpPr>
        <p:spPr>
          <a:xfrm>
            <a:off x="8083296" y="2286000"/>
            <a:ext cx="3429000" cy="2743200"/>
          </a:xfrm>
          <a:prstGeom prst="roundRect">
            <a:avLst>
              <a:gd name="adj" fmla="val 4000"/>
            </a:avLst>
          </a:prstGeom>
          <a:solidFill>
            <a:srgbClr val="FFFFFF"/>
          </a:solidFill>
          <a:ln/>
        </p:spPr>
      </p:sp>
      <p:sp>
        <p:nvSpPr>
          <p:cNvPr id="13" name="Text 11"/>
          <p:cNvSpPr/>
          <p:nvPr/>
        </p:nvSpPr>
        <p:spPr>
          <a:xfrm>
            <a:off x="8403336" y="2560320"/>
            <a:ext cx="914400" cy="731520"/>
          </a:xfrm>
          <a:prstGeom prst="rect">
            <a:avLst/>
          </a:prstGeom>
          <a:noFill/>
          <a:ln/>
        </p:spPr>
        <p:txBody>
          <a:bodyPr wrap="square" rtlCol="0" anchor="ctr"/>
          <a:lstStyle/>
          <a:p>
            <a:pPr indent="0" marL="0">
              <a:buNone/>
            </a:pPr>
            <a:r>
              <a:rPr lang="en-US" sz="3400" b="1" dirty="0">
                <a:solidFill>
                  <a:srgbClr val="B11F4B"/>
                </a:solidFill>
                <a:latin typeface="Segoe UI" pitchFamily="34" charset="0"/>
                <a:ea typeface="Segoe UI" pitchFamily="34" charset="-122"/>
                <a:cs typeface="Segoe UI" pitchFamily="34" charset="-120"/>
              </a:rPr>
              <a:t>3</a:t>
            </a:r>
            <a:endParaRPr lang="en-US" sz="3400" dirty="0"/>
          </a:p>
        </p:txBody>
      </p:sp>
      <p:sp>
        <p:nvSpPr>
          <p:cNvPr id="14" name="Text 12"/>
          <p:cNvSpPr/>
          <p:nvPr/>
        </p:nvSpPr>
        <p:spPr>
          <a:xfrm>
            <a:off x="8403336" y="3383280"/>
            <a:ext cx="2834640" cy="548640"/>
          </a:xfrm>
          <a:prstGeom prst="rect">
            <a:avLst/>
          </a:prstGeom>
          <a:noFill/>
          <a:ln/>
        </p:spPr>
        <p:txBody>
          <a:bodyPr wrap="square" rtlCol="0" anchor="ctr"/>
          <a:lstStyle/>
          <a:p>
            <a:pPr indent="0" marL="0">
              <a:buNone/>
            </a:pPr>
            <a:r>
              <a:rPr lang="en-US" sz="1900" b="1" dirty="0">
                <a:solidFill>
                  <a:srgbClr val="242424"/>
                </a:solidFill>
                <a:latin typeface="Segoe UI" pitchFamily="34" charset="0"/>
                <a:ea typeface="Segoe UI" pitchFamily="34" charset="-122"/>
                <a:cs typeface="Segoe UI" pitchFamily="34" charset="-120"/>
              </a:rPr>
              <a:t>Assign a sponsor</a:t>
            </a:r>
            <a:endParaRPr lang="en-US" sz="1900" dirty="0"/>
          </a:p>
        </p:txBody>
      </p:sp>
      <p:sp>
        <p:nvSpPr>
          <p:cNvPr id="15" name="Text 13"/>
          <p:cNvSpPr/>
          <p:nvPr/>
        </p:nvSpPr>
        <p:spPr>
          <a:xfrm>
            <a:off x="8403336" y="3931920"/>
            <a:ext cx="2834640" cy="914400"/>
          </a:xfrm>
          <a:prstGeom prst="rect">
            <a:avLst/>
          </a:prstGeom>
          <a:noFill/>
          <a:ln/>
        </p:spPr>
        <p:txBody>
          <a:bodyPr wrap="square" rtlCol="0" anchor="ctr"/>
          <a:lstStyle/>
          <a:p>
            <a:pPr indent="0" marL="0">
              <a:lnSpc>
                <a:spcPct val="110000"/>
              </a:lnSpc>
              <a:buNone/>
            </a:pPr>
            <a:r>
              <a:rPr lang="en-US" sz="1450" dirty="0">
                <a:solidFill>
                  <a:srgbClr val="5C5C5C"/>
                </a:solidFill>
                <a:latin typeface="Calibri" pitchFamily="34" charset="0"/>
                <a:ea typeface="Calibri" pitchFamily="34" charset="-122"/>
                <a:cs typeface="Calibri" pitchFamily="34" charset="-120"/>
              </a:rPr>
              <a:t>An executive champion for the initiative</a:t>
            </a:r>
            <a:endParaRPr lang="en-US" sz="1450" dirty="0"/>
          </a:p>
        </p:txBody>
      </p:sp>
      <p:sp>
        <p:nvSpPr>
          <p:cNvPr id="16" name="Text 14"/>
          <p:cNvSpPr/>
          <p:nvPr/>
        </p:nvSpPr>
        <p:spPr>
          <a:xfrm>
            <a:off x="640080" y="5440680"/>
            <a:ext cx="10881360" cy="45720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AED 250,000  =  AED 150,000 summit  +  AED 100,000 pilots</a:t>
            </a:r>
            <a:endParaRPr lang="en-US" sz="1600" dirty="0"/>
          </a:p>
        </p:txBody>
      </p:sp>
      <p:sp>
        <p:nvSpPr>
          <p:cNvPr id="17" name="Text 15"/>
          <p:cNvSpPr/>
          <p:nvPr/>
        </p:nvSpPr>
        <p:spPr>
          <a:xfrm>
            <a:off x="640080" y="6126480"/>
            <a:ext cx="10881360" cy="365760"/>
          </a:xfrm>
          <a:prstGeom prst="rect">
            <a:avLst/>
          </a:prstGeom>
          <a:noFill/>
          <a:ln/>
        </p:spPr>
        <p:txBody>
          <a:bodyPr wrap="square" rtlCol="0" anchor="ctr"/>
          <a:lstStyle/>
          <a:p>
            <a:pPr algn="ctr" indent="0" marL="0">
              <a:buNone/>
            </a:pPr>
            <a:r>
              <a:rPr lang="en-US" sz="1300" dirty="0">
                <a:solidFill>
                  <a:srgbClr val="F4E3EA"/>
                </a:solidFill>
                <a:latin typeface="Calibri" pitchFamily="34" charset="0"/>
                <a:ea typeface="Calibri" pitchFamily="34" charset="-122"/>
                <a:cs typeface="Calibri" pitchFamily="34" charset="-120"/>
              </a:rPr>
              <a:t>Thank you  ·  Dubai Airports Youth Council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2026-06-22T07:35:02Z</dcterms:created>
  <dcterms:modified xsi:type="dcterms:W3CDTF">2026-06-22T07:35:02Z</dcterms:modified>
</cp:coreProperties>
</file>